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93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1. Open with the line under the title, then point at the QR: the judges can try the live app while we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asks the room to find the clash. Count down from 10. Then: "Did anyone get both?" Next slide shows what the app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2. Point at each number on the screenshot. The clash the room just hunted for is pin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2. Four things, each one shown on the last slide or in the demo. The AI line is our answer to the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2. Walk the arrows left to right. Land on "Not sure": that is the only place AI comes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3. Live demo here: upload the poster photo, show the card, press Looks right. Then the class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3. Read the table row by row; the "after" column wipes in as you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3. Leave this up during questions so the judges can scan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youtu.be/joI75POVTr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noticedecoder.pages.dev/app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joI75POVTr0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noticedecoder.pages.dev/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vent"/>
          <p:cNvSpPr/>
          <p:nvPr/>
        </p:nvSpPr>
        <p:spPr>
          <a:xfrm>
            <a:off x="64008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  |  28 October 2026, Room 208</a:t>
            </a:r>
            <a:endParaRPr lang="en-US" sz="1400" dirty="0"/>
          </a:p>
        </p:txBody>
      </p:sp>
      <p:sp>
        <p:nvSpPr>
          <p:cNvPr id="3" name="!!brand"/>
          <p:cNvSpPr/>
          <p:nvPr/>
        </p:nvSpPr>
        <p:spPr>
          <a:xfrm>
            <a:off x="640080" y="1325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5600" dirty="0"/>
          </a:p>
        </p:txBody>
      </p:sp>
      <p:sp>
        <p:nvSpPr>
          <p:cNvPr id="4" name="a01-wipe"/>
          <p:cNvSpPr/>
          <p:nvPr/>
        </p:nvSpPr>
        <p:spPr>
          <a:xfrm>
            <a:off x="640080" y="26060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college notice. </a:t>
            </a:r>
            <a:r>
              <a:rPr lang="en-US" sz="2400" dirty="0">
                <a:solidFill>
                  <a:srgbClr val="1D1B26"/>
                </a:solidFill>
                <a:highlight>
                  <a:srgbClr val="FFF17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Its dates go into your calendar,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clashes marked.</a:t>
            </a:r>
            <a:endParaRPr lang="en-US" sz="2400" dirty="0"/>
          </a:p>
        </p:txBody>
      </p:sp>
      <p:sp>
        <p:nvSpPr>
          <p:cNvPr id="5" name="a02-fade"/>
          <p:cNvSpPr/>
          <p:nvPr/>
        </p:nvSpPr>
        <p:spPr>
          <a:xfrm>
            <a:off x="640080" y="5257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Nova Nexus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Ankit, Ankit Kumar (Leader), Apoorv</a:t>
            </a:r>
            <a:endParaRPr lang="en-US" sz="1600" dirty="0"/>
          </a:p>
        </p:txBody>
      </p:sp>
      <p:pic>
        <p:nvPicPr>
          <p:cNvPr id="6" name="a03-zoom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40000">
            <a:off x="6949440" y="1143000"/>
            <a:ext cx="2148840" cy="3625479"/>
          </a:xfrm>
          <a:prstGeom prst="rect">
            <a:avLst/>
          </a:prstGeom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7" name="!!qrcard"/>
          <p:cNvSpPr/>
          <p:nvPr/>
        </p:nvSpPr>
        <p:spPr>
          <a:xfrm>
            <a:off x="9372600" y="1325880"/>
            <a:ext cx="2240280" cy="2788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8" name="!!q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1481328"/>
            <a:ext cx="1874520" cy="1874520"/>
          </a:xfrm>
          <a:prstGeom prst="rect">
            <a:avLst/>
          </a:prstGeom>
        </p:spPr>
      </p:pic>
      <p:sp>
        <p:nvSpPr>
          <p:cNvPr id="9" name="!!qrlabel">
            <a:hlinkClick r:id="rId5"/>
          </p:cNvPr>
          <p:cNvSpPr/>
          <p:nvPr/>
        </p:nvSpPr>
        <p:spPr>
          <a:xfrm>
            <a:off x="9372600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Scan: live app</a:t>
            </a:r>
            <a:endParaRPr lang="en-US" sz="1400" dirty="0"/>
          </a:p>
        </p:txBody>
      </p:sp>
      <p:pic>
        <p:nvPicPr>
          <p:cNvPr id="10" name="a04-fad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434840"/>
            <a:ext cx="1325880" cy="1325880"/>
          </a:xfrm>
          <a:prstGeom prst="rect">
            <a:avLst/>
          </a:prstGeom>
        </p:spPr>
      </p:pic>
      <p:sp>
        <p:nvSpPr>
          <p:cNvPr id="11" name="a05-with">
            <a:hlinkClick r:id="rId7"/>
          </p:cNvPr>
          <p:cNvSpPr/>
          <p:nvPr/>
        </p:nvSpPr>
        <p:spPr>
          <a:xfrm>
            <a:off x="9372600" y="5806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8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6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clash in this notice. </a:t>
            </a:r>
            <a:r>
              <a:rPr lang="en-US" sz="3200" b="1" dirty="0">
                <a:solidFill>
                  <a:srgbClr val="1D1B26"/>
                </a:solidFill>
                <a:highlight>
                  <a:srgbClr val="FFF176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You have 10 seconds.</a:t>
            </a:r>
            <a:endParaRPr lang="en-US" sz="3200" dirty="0"/>
          </a:p>
        </p:txBody>
      </p:sp>
      <p:sp>
        <p:nvSpPr>
          <p:cNvPr id="5" name="!!paper"/>
          <p:cNvSpPr/>
          <p:nvPr/>
        </p:nvSpPr>
        <p:spPr>
          <a:xfrm>
            <a:off x="640080" y="1874520"/>
            <a:ext cx="64008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!!papertitle"/>
          <p:cNvSpPr/>
          <p:nvPr/>
        </p:nvSpPr>
        <p:spPr>
          <a:xfrm>
            <a:off x="64008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kern="0" spc="400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500" dirty="0"/>
          </a:p>
        </p:txBody>
      </p:sp>
      <p:sp>
        <p:nvSpPr>
          <p:cNvPr id="7" name="!!papertext"/>
          <p:cNvSpPr/>
          <p:nvPr/>
        </p:nvSpPr>
        <p:spPr>
          <a:xfrm>
            <a:off x="1097280" y="2651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III-year CSE students: Internal Test 2 will be held on 13 Nov 2026 from 10:00 AM to 11:30 AM in Room 204. Lab records must be submitted to the department office by 12:00 noon on 13 Nov. A guest lecture on "AI in Healthcare" is scheduled on 13 Nov, 11:00 AM to 12:30 PM, Seminar Hall.</a:t>
            </a:r>
            <a:endParaRPr lang="en-US" sz="1700" dirty="0"/>
          </a:p>
        </p:txBody>
      </p:sp>
      <p:pic>
        <p:nvPicPr>
          <p:cNvPr id="8" name="a02-fad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965960"/>
            <a:ext cx="457200" cy="457200"/>
          </a:xfrm>
          <a:prstGeom prst="rect">
            <a:avLst/>
          </a:prstGeom>
        </p:spPr>
      </p:pic>
      <p:sp>
        <p:nvSpPr>
          <p:cNvPr id="9" name="a03-with"/>
          <p:cNvSpPr/>
          <p:nvPr/>
        </p:nvSpPr>
        <p:spPr>
          <a:xfrm>
            <a:off x="8183880" y="1920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Buried</a:t>
            </a:r>
            <a:endParaRPr lang="en-US" sz="2000" dirty="0"/>
          </a:p>
        </p:txBody>
      </p:sp>
      <p:sp>
        <p:nvSpPr>
          <p:cNvPr id="10" name="a04-with"/>
          <p:cNvSpPr/>
          <p:nvPr/>
        </p:nvSpPr>
        <p:spPr>
          <a:xfrm>
            <a:off x="818388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 and room sit inside one long paragraph.</a:t>
            </a:r>
            <a:endParaRPr lang="en-US" sz="1500" dirty="0"/>
          </a:p>
        </p:txBody>
      </p:sp>
      <p:pic>
        <p:nvPicPr>
          <p:cNvPr id="11" name="a05-fad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154680"/>
            <a:ext cx="457200" cy="457200"/>
          </a:xfrm>
          <a:prstGeom prst="rect">
            <a:avLst/>
          </a:prstGeom>
        </p:spPr>
      </p:pic>
      <p:sp>
        <p:nvSpPr>
          <p:cNvPr id="12" name="a06-with"/>
          <p:cNvSpPr/>
          <p:nvPr/>
        </p:nvSpPr>
        <p:spPr>
          <a:xfrm>
            <a:off x="8183880" y="3108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</a:t>
            </a:r>
            <a:endParaRPr lang="en-US" sz="2000" dirty="0"/>
          </a:p>
        </p:txBody>
      </p:sp>
      <p:sp>
        <p:nvSpPr>
          <p:cNvPr id="13" name="a07-with"/>
          <p:cNvSpPr/>
          <p:nvPr/>
        </p:nvSpPr>
        <p:spPr>
          <a:xfrm>
            <a:off x="818388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 dates.</a:t>
            </a:r>
            <a:endParaRPr lang="en-US" sz="1500" dirty="0"/>
          </a:p>
        </p:txBody>
      </p:sp>
      <p:pic>
        <p:nvPicPr>
          <p:cNvPr id="14" name="a08-fad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343400"/>
            <a:ext cx="457200" cy="457200"/>
          </a:xfrm>
          <a:prstGeom prst="rect">
            <a:avLst/>
          </a:prstGeom>
        </p:spPr>
      </p:pic>
      <p:sp>
        <p:nvSpPr>
          <p:cNvPr id="15" name="a09-with"/>
          <p:cNvSpPr/>
          <p:nvPr/>
        </p:nvSpPr>
        <p:spPr>
          <a:xfrm>
            <a:off x="8183880" y="4297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Clashing</a:t>
            </a:r>
            <a:endParaRPr lang="en-US" sz="2000" dirty="0"/>
          </a:p>
        </p:txBody>
      </p:sp>
      <p:sp>
        <p:nvSpPr>
          <p:cNvPr id="16" name="a10-with"/>
          <p:cNvSpPr/>
          <p:nvPr/>
        </p:nvSpPr>
        <p:spPr>
          <a:xfrm>
            <a:off x="8183880" y="4709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at the same hour, found too late.</a:t>
            </a:r>
            <a:endParaRPr lang="en-US" sz="1500" dirty="0"/>
          </a:p>
        </p:txBody>
      </p:sp>
      <p:sp>
        <p:nvSpPr>
          <p:cNvPr id="17" name="a11-fade"/>
          <p:cNvSpPr/>
          <p:nvPr/>
        </p:nvSpPr>
        <p:spPr>
          <a:xfrm>
            <a:off x="7543800" y="5440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APSIT Mumbai stopped sharing notices in WhatsApp groups because "many students miss important notices" (e-notice board post, 23 Sep 2025).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8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1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found </a:t>
            </a:r>
            <a:r>
              <a:rPr lang="en-US" sz="3200" b="1" dirty="0">
                <a:solidFill>
                  <a:srgbClr val="1D1B26"/>
                </a:solidFill>
                <a:highlight>
                  <a:srgbClr val="FFF176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3 events and 2 clashes.</a:t>
            </a:r>
            <a:endParaRPr lang="en-US" sz="3200" dirty="0"/>
          </a:p>
        </p:txBody>
      </p:sp>
      <p:pic>
        <p:nvPicPr>
          <p:cNvPr id="5" name="a02-fad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74520"/>
            <a:ext cx="6766560" cy="4229100"/>
          </a:xfrm>
          <a:prstGeom prst="rect">
            <a:avLst/>
          </a:prstGeom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6" name="a03-fade"/>
          <p:cNvSpPr/>
          <p:nvPr/>
        </p:nvSpPr>
        <p:spPr>
          <a:xfrm>
            <a:off x="640080" y="2779679"/>
            <a:ext cx="365760" cy="365760"/>
          </a:xfrm>
          <a:prstGeom prst="ellipse">
            <a:avLst/>
          </a:prstGeom>
          <a:solidFill>
            <a:srgbClr val="3D2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a04-with"/>
          <p:cNvSpPr/>
          <p:nvPr/>
        </p:nvSpPr>
        <p:spPr>
          <a:xfrm>
            <a:off x="640080" y="27796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a05-with"/>
          <p:cNvSpPr/>
          <p:nvPr/>
        </p:nvSpPr>
        <p:spPr>
          <a:xfrm>
            <a:off x="7955280" y="1942192"/>
            <a:ext cx="365760" cy="365760"/>
          </a:xfrm>
          <a:prstGeom prst="ellipse">
            <a:avLst/>
          </a:prstGeom>
          <a:solidFill>
            <a:srgbClr val="3D2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a06-with"/>
          <p:cNvSpPr/>
          <p:nvPr/>
        </p:nvSpPr>
        <p:spPr>
          <a:xfrm>
            <a:off x="7955280" y="194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07-with"/>
          <p:cNvSpPr/>
          <p:nvPr/>
        </p:nvSpPr>
        <p:spPr>
          <a:xfrm>
            <a:off x="7955280" y="2974173"/>
            <a:ext cx="365760" cy="365760"/>
          </a:xfrm>
          <a:prstGeom prst="ellipse">
            <a:avLst/>
          </a:prstGeom>
          <a:solidFill>
            <a:srgbClr val="3D2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a08-with"/>
          <p:cNvSpPr/>
          <p:nvPr/>
        </p:nvSpPr>
        <p:spPr>
          <a:xfrm>
            <a:off x="7955280" y="29741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a09-with"/>
          <p:cNvSpPr/>
          <p:nvPr/>
        </p:nvSpPr>
        <p:spPr>
          <a:xfrm>
            <a:off x="7955280" y="5465084"/>
            <a:ext cx="365760" cy="365760"/>
          </a:xfrm>
          <a:prstGeom prst="ellipse">
            <a:avLst/>
          </a:prstGeom>
          <a:solidFill>
            <a:srgbClr val="3D2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a10-with"/>
          <p:cNvSpPr/>
          <p:nvPr/>
        </p:nvSpPr>
        <p:spPr>
          <a:xfrm>
            <a:off x="7955280" y="5465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a11-fade"/>
          <p:cNvSpPr/>
          <p:nvPr/>
        </p:nvSpPr>
        <p:spPr>
          <a:xfrm>
            <a:off x="8915400" y="1965960"/>
            <a:ext cx="365760" cy="365760"/>
          </a:xfrm>
          <a:prstGeom prst="ellipse">
            <a:avLst/>
          </a:prstGeom>
          <a:solidFill>
            <a:srgbClr val="3D2C8D"/>
          </a:solidFill>
          <a:ln/>
        </p:spPr>
      </p:sp>
      <p:sp>
        <p:nvSpPr>
          <p:cNvPr id="15" name="a12-with"/>
          <p:cNvSpPr/>
          <p:nvPr/>
        </p:nvSpPr>
        <p:spPr>
          <a:xfrm>
            <a:off x="8915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a13-with"/>
          <p:cNvSpPr/>
          <p:nvPr/>
        </p:nvSpPr>
        <p:spPr>
          <a:xfrm>
            <a:off x="9418320" y="192938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first</a:t>
            </a:r>
            <a:endParaRPr lang="en-US" sz="1500" dirty="0"/>
          </a:p>
        </p:txBody>
      </p:sp>
      <p:sp>
        <p:nvSpPr>
          <p:cNvPr id="17" name="a14-fade"/>
          <p:cNvSpPr/>
          <p:nvPr/>
        </p:nvSpPr>
        <p:spPr>
          <a:xfrm>
            <a:off x="8915400" y="2834640"/>
            <a:ext cx="365760" cy="365760"/>
          </a:xfrm>
          <a:prstGeom prst="ellipse">
            <a:avLst/>
          </a:prstGeom>
          <a:solidFill>
            <a:srgbClr val="3D2C8D"/>
          </a:solidFill>
          <a:ln/>
        </p:spPr>
      </p:sp>
      <p:sp>
        <p:nvSpPr>
          <p:cNvPr id="18" name="a15-with"/>
          <p:cNvSpPr/>
          <p:nvPr/>
        </p:nvSpPr>
        <p:spPr>
          <a:xfrm>
            <a:off x="89154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a16-with"/>
          <p:cNvSpPr/>
          <p:nvPr/>
        </p:nvSpPr>
        <p:spPr>
          <a:xfrm>
            <a:off x="9418320" y="27980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each date came from, in its event's colour</a:t>
            </a:r>
            <a:endParaRPr lang="en-US" sz="1500" dirty="0"/>
          </a:p>
        </p:txBody>
      </p:sp>
      <p:sp>
        <p:nvSpPr>
          <p:cNvPr id="20" name="a17-fade"/>
          <p:cNvSpPr/>
          <p:nvPr/>
        </p:nvSpPr>
        <p:spPr>
          <a:xfrm>
            <a:off x="8915400" y="3703320"/>
            <a:ext cx="365760" cy="365760"/>
          </a:xfrm>
          <a:prstGeom prst="ellipse">
            <a:avLst/>
          </a:prstGeom>
          <a:solidFill>
            <a:srgbClr val="3D2C8D"/>
          </a:solidFill>
          <a:ln/>
        </p:spPr>
      </p:sp>
      <p:sp>
        <p:nvSpPr>
          <p:cNvPr id="21" name="a18-with"/>
          <p:cNvSpPr/>
          <p:nvPr/>
        </p:nvSpPr>
        <p:spPr>
          <a:xfrm>
            <a:off x="89154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a19-with"/>
          <p:cNvSpPr/>
          <p:nvPr/>
        </p:nvSpPr>
        <p:spPr>
          <a:xfrm>
            <a:off x="9418320" y="36667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event</a:t>
            </a:r>
            <a:endParaRPr lang="en-US" sz="1500" dirty="0"/>
          </a:p>
        </p:txBody>
      </p:sp>
      <p:sp>
        <p:nvSpPr>
          <p:cNvPr id="23" name="a20-fade"/>
          <p:cNvSpPr/>
          <p:nvPr/>
        </p:nvSpPr>
        <p:spPr>
          <a:xfrm>
            <a:off x="8915400" y="4572000"/>
            <a:ext cx="365760" cy="365760"/>
          </a:xfrm>
          <a:prstGeom prst="ellipse">
            <a:avLst/>
          </a:prstGeom>
          <a:solidFill>
            <a:srgbClr val="3D2C8D"/>
          </a:solidFill>
          <a:ln/>
        </p:spPr>
      </p:sp>
      <p:sp>
        <p:nvSpPr>
          <p:cNvPr id="24" name="a21-with"/>
          <p:cNvSpPr/>
          <p:nvPr/>
        </p:nvSpPr>
        <p:spPr>
          <a:xfrm>
            <a:off x="89154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a22-with"/>
          <p:cNvSpPr/>
          <p:nvPr/>
        </p:nvSpPr>
        <p:spPr>
          <a:xfrm>
            <a:off x="9418320" y="453542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on a timeline, with what to do</a:t>
            </a:r>
            <a:endParaRPr lang="en-US" sz="1500" dirty="0"/>
          </a:p>
        </p:txBody>
      </p:sp>
      <p:sp>
        <p:nvSpPr>
          <p:cNvPr id="26" name="a23-wipe"/>
          <p:cNvSpPr/>
          <p:nvPr/>
        </p:nvSpPr>
        <p:spPr>
          <a:xfrm>
            <a:off x="8915400" y="5486400"/>
            <a:ext cx="2651760" cy="868680"/>
          </a:xfrm>
          <a:prstGeom prst="rect">
            <a:avLst/>
          </a:prstGeom>
          <a:solidFill>
            <a:srgbClr val="FFF176"/>
          </a:solidFill>
          <a:ln/>
        </p:spPr>
      </p:sp>
      <p:sp>
        <p:nvSpPr>
          <p:cNvPr id="27" name="a24-with"/>
          <p:cNvSpPr/>
          <p:nvPr/>
        </p:nvSpPr>
        <p:spPr>
          <a:xfrm>
            <a:off x="9052560" y="5486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events right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left to check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1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4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7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6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13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here</a:t>
            </a:r>
            <a:endParaRPr lang="en-US" sz="3400" dirty="0"/>
          </a:p>
        </p:txBody>
      </p:sp>
      <p:sp>
        <p:nvSpPr>
          <p:cNvPr id="5" name="a02-zoom"/>
          <p:cNvSpPr/>
          <p:nvPr/>
        </p:nvSpPr>
        <p:spPr>
          <a:xfrm>
            <a:off x="640080" y="1828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1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7</a:t>
            </a:r>
            <a:endParaRPr lang="en-US" sz="6600" dirty="0"/>
          </a:p>
        </p:txBody>
      </p:sp>
      <p:sp>
        <p:nvSpPr>
          <p:cNvPr id="6" name="a03-fade"/>
          <p:cNvSpPr/>
          <p:nvPr/>
        </p:nvSpPr>
        <p:spPr>
          <a:xfrm>
            <a:off x="64008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tools on GitHub export a calendar file or check clashes. We read their code in Oct 2026; most send the text to an AI model for a summary.</a:t>
            </a:r>
            <a:endParaRPr lang="en-US" sz="1500" dirty="0"/>
          </a:p>
        </p:txBody>
      </p:sp>
      <p:sp>
        <p:nvSpPr>
          <p:cNvPr id="7" name="a04-fade"/>
          <p:cNvSpPr/>
          <p:nvPr/>
        </p:nvSpPr>
        <p:spPr>
          <a:xfrm>
            <a:off x="4480560" y="1783080"/>
            <a:ext cx="7086600" cy="960120"/>
          </a:xfrm>
          <a:prstGeom prst="rect">
            <a:avLst/>
          </a:prstGeom>
          <a:solidFill>
            <a:srgbClr val="2A2263"/>
          </a:solidFill>
          <a:ln/>
        </p:spPr>
      </p:sp>
      <p:sp>
        <p:nvSpPr>
          <p:cNvPr id="8" name="a05-with"/>
          <p:cNvSpPr/>
          <p:nvPr/>
        </p:nvSpPr>
        <p:spPr>
          <a:xfrm>
            <a:off x="4709160" y="1965960"/>
            <a:ext cx="384048" cy="384048"/>
          </a:xfrm>
          <a:prstGeom prst="rect">
            <a:avLst/>
          </a:prstGeom>
          <a:solidFill>
            <a:srgbClr val="FFF176"/>
          </a:solidFill>
          <a:ln/>
        </p:spPr>
      </p:sp>
      <p:sp>
        <p:nvSpPr>
          <p:cNvPr id="9" name="a06-with"/>
          <p:cNvSpPr/>
          <p:nvPr/>
        </p:nvSpPr>
        <p:spPr>
          <a:xfrm>
            <a:off x="5303520" y="187452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date shows its source</a:t>
            </a:r>
            <a:endParaRPr lang="en-US" sz="1800" dirty="0"/>
          </a:p>
        </p:txBody>
      </p:sp>
      <p:sp>
        <p:nvSpPr>
          <p:cNvPr id="10" name="a07-with"/>
          <p:cNvSpPr/>
          <p:nvPr/>
        </p:nvSpPr>
        <p:spPr>
          <a:xfrm>
            <a:off x="5303520" y="22585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date and the notice lights up the words it came from.</a:t>
            </a:r>
            <a:endParaRPr lang="en-US" sz="1400" dirty="0"/>
          </a:p>
        </p:txBody>
      </p:sp>
      <p:sp>
        <p:nvSpPr>
          <p:cNvPr id="11" name="a08-fade"/>
          <p:cNvSpPr/>
          <p:nvPr/>
        </p:nvSpPr>
        <p:spPr>
          <a:xfrm>
            <a:off x="4480560" y="2898648"/>
            <a:ext cx="7086600" cy="960120"/>
          </a:xfrm>
          <a:prstGeom prst="rect">
            <a:avLst/>
          </a:prstGeom>
          <a:solidFill>
            <a:srgbClr val="2A2263"/>
          </a:solidFill>
          <a:ln/>
        </p:spPr>
      </p:sp>
      <p:sp>
        <p:nvSpPr>
          <p:cNvPr id="12" name="a09-with"/>
          <p:cNvSpPr/>
          <p:nvPr/>
        </p:nvSpPr>
        <p:spPr>
          <a:xfrm>
            <a:off x="4709160" y="3081528"/>
            <a:ext cx="384048" cy="384048"/>
          </a:xfrm>
          <a:prstGeom prst="rect">
            <a:avLst/>
          </a:prstGeom>
          <a:solidFill>
            <a:srgbClr val="B9F5A6"/>
          </a:solidFill>
          <a:ln/>
        </p:spPr>
      </p:sp>
      <p:sp>
        <p:nvSpPr>
          <p:cNvPr id="13" name="a10-with"/>
          <p:cNvSpPr/>
          <p:nvPr/>
        </p:nvSpPr>
        <p:spPr>
          <a:xfrm>
            <a:off x="5303520" y="299008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catches a notice that disagrees with itself</a:t>
            </a:r>
            <a:endParaRPr lang="en-US" sz="1800" dirty="0"/>
          </a:p>
        </p:txBody>
      </p:sp>
      <p:sp>
        <p:nvSpPr>
          <p:cNvPr id="14" name="a11-with"/>
          <p:cNvSpPr/>
          <p:nvPr/>
        </p:nvSpPr>
        <p:spPr>
          <a:xfrm>
            <a:off x="5303520" y="337413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dates shown in amber; you pick one.</a:t>
            </a:r>
            <a:endParaRPr lang="en-US" sz="1400" dirty="0"/>
          </a:p>
        </p:txBody>
      </p:sp>
      <p:sp>
        <p:nvSpPr>
          <p:cNvPr id="15" name="a12-fade"/>
          <p:cNvSpPr/>
          <p:nvPr/>
        </p:nvSpPr>
        <p:spPr>
          <a:xfrm>
            <a:off x="4480560" y="4014216"/>
            <a:ext cx="7086600" cy="960120"/>
          </a:xfrm>
          <a:prstGeom prst="rect">
            <a:avLst/>
          </a:prstGeom>
          <a:solidFill>
            <a:srgbClr val="2A2263"/>
          </a:solidFill>
          <a:ln/>
        </p:spPr>
      </p:sp>
      <p:sp>
        <p:nvSpPr>
          <p:cNvPr id="16" name="a13-with"/>
          <p:cNvSpPr/>
          <p:nvPr/>
        </p:nvSpPr>
        <p:spPr>
          <a:xfrm>
            <a:off x="4709160" y="4197096"/>
            <a:ext cx="384048" cy="384048"/>
          </a:xfrm>
          <a:prstGeom prst="rect">
            <a:avLst/>
          </a:prstGeom>
          <a:solidFill>
            <a:srgbClr val="FFC4E1"/>
          </a:solidFill>
          <a:ln/>
        </p:spPr>
      </p:sp>
      <p:sp>
        <p:nvSpPr>
          <p:cNvPr id="17" name="a14-with"/>
          <p:cNvSpPr/>
          <p:nvPr/>
        </p:nvSpPr>
        <p:spPr>
          <a:xfrm>
            <a:off x="5303520" y="410565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sets a date</a:t>
            </a:r>
            <a:endParaRPr lang="en-US" sz="1800" dirty="0"/>
          </a:p>
        </p:txBody>
      </p:sp>
      <p:sp>
        <p:nvSpPr>
          <p:cNvPr id="18" name="a15-with"/>
          <p:cNvSpPr/>
          <p:nvPr/>
        </p:nvSpPr>
        <p:spPr>
          <a:xfrm>
            <a:off x="5303520" y="448970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read dates and times. The AI check only names things, and only when the rules are unsure.</a:t>
            </a:r>
            <a:endParaRPr lang="en-US" sz="1400" dirty="0"/>
          </a:p>
        </p:txBody>
      </p:sp>
      <p:sp>
        <p:nvSpPr>
          <p:cNvPr id="19" name="a16-fade"/>
          <p:cNvSpPr/>
          <p:nvPr/>
        </p:nvSpPr>
        <p:spPr>
          <a:xfrm>
            <a:off x="4480560" y="5129784"/>
            <a:ext cx="7086600" cy="960120"/>
          </a:xfrm>
          <a:prstGeom prst="rect">
            <a:avLst/>
          </a:prstGeom>
          <a:solidFill>
            <a:srgbClr val="2A2263"/>
          </a:solidFill>
          <a:ln/>
        </p:spPr>
      </p:sp>
      <p:sp>
        <p:nvSpPr>
          <p:cNvPr id="20" name="a17-with"/>
          <p:cNvSpPr/>
          <p:nvPr/>
        </p:nvSpPr>
        <p:spPr>
          <a:xfrm>
            <a:off x="4709160" y="5312664"/>
            <a:ext cx="384048" cy="384048"/>
          </a:xfrm>
          <a:prstGeom prst="rect">
            <a:avLst/>
          </a:prstGeom>
          <a:solidFill>
            <a:srgbClr val="B8E4FF"/>
          </a:solidFill>
          <a:ln/>
        </p:spPr>
      </p:sp>
      <p:sp>
        <p:nvSpPr>
          <p:cNvPr id="21" name="a18-with"/>
          <p:cNvSpPr/>
          <p:nvPr/>
        </p:nvSpPr>
        <p:spPr>
          <a:xfrm>
            <a:off x="5303520" y="522122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 calendar that moves</a:t>
            </a:r>
            <a:endParaRPr lang="en-US" sz="1800" dirty="0"/>
          </a:p>
        </p:txBody>
      </p:sp>
      <p:sp>
        <p:nvSpPr>
          <p:cNvPr id="22" name="a19-with"/>
          <p:cNvSpPr/>
          <p:nvPr/>
        </p:nvSpPr>
        <p:spPr>
          <a:xfrm>
            <a:off x="5303520" y="560527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publishes once. Students join once with Google; a postponed exam moves in their calendar, with a reminder.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3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6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9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12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read the dates. </a:t>
            </a:r>
            <a:r>
              <a:rPr lang="en-US" sz="3200" b="1" dirty="0">
                <a:solidFill>
                  <a:srgbClr val="1D1B26"/>
                </a:solidFill>
                <a:highlight>
                  <a:srgbClr val="B8E4FF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AI only names things.</a:t>
            </a:r>
            <a:endParaRPr lang="en-US" sz="3200" dirty="0"/>
          </a:p>
        </p:txBody>
      </p:sp>
      <p:sp>
        <p:nvSpPr>
          <p:cNvPr id="5" name="a02-fade"/>
          <p:cNvSpPr/>
          <p:nvPr/>
        </p:nvSpPr>
        <p:spPr>
          <a:xfrm>
            <a:off x="640080" y="19202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176"/>
          </a:solidFill>
          <a:ln w="19050">
            <a:solidFill>
              <a:srgbClr val="FFF176"/>
            </a:solidFill>
            <a:prstDash val="solid"/>
          </a:ln>
        </p:spPr>
      </p:sp>
      <p:sp>
        <p:nvSpPr>
          <p:cNvPr id="6" name="a03-with"/>
          <p:cNvSpPr/>
          <p:nvPr/>
        </p:nvSpPr>
        <p:spPr>
          <a:xfrm>
            <a:off x="749808" y="19202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share</a:t>
            </a:r>
            <a:endParaRPr lang="en-US" sz="1400" dirty="0"/>
          </a:p>
        </p:txBody>
      </p:sp>
      <p:sp>
        <p:nvSpPr>
          <p:cNvPr id="7" name="a04-with"/>
          <p:cNvSpPr/>
          <p:nvPr/>
        </p:nvSpPr>
        <p:spPr>
          <a:xfrm>
            <a:off x="640080" y="26974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C4E1"/>
          </a:solidFill>
          <a:ln w="19050">
            <a:solidFill>
              <a:srgbClr val="FFC4E1"/>
            </a:solidFill>
            <a:prstDash val="solid"/>
          </a:ln>
        </p:spPr>
      </p:sp>
      <p:sp>
        <p:nvSpPr>
          <p:cNvPr id="8" name="a05-with"/>
          <p:cNvSpPr/>
          <p:nvPr/>
        </p:nvSpPr>
        <p:spPr>
          <a:xfrm>
            <a:off x="749808" y="26974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PDF, Word</a:t>
            </a:r>
            <a:endParaRPr lang="en-US" sz="1400" dirty="0"/>
          </a:p>
        </p:txBody>
      </p:sp>
      <p:sp>
        <p:nvSpPr>
          <p:cNvPr id="9" name="a06-with"/>
          <p:cNvSpPr/>
          <p:nvPr/>
        </p:nvSpPr>
        <p:spPr>
          <a:xfrm>
            <a:off x="640080" y="347472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55526A"/>
            </a:solidFill>
            <a:prstDash val="dash"/>
          </a:ln>
        </p:spPr>
      </p:sp>
      <p:sp>
        <p:nvSpPr>
          <p:cNvPr id="10" name="a07-with"/>
          <p:cNvSpPr/>
          <p:nvPr/>
        </p:nvSpPr>
        <p:spPr>
          <a:xfrm>
            <a:off x="749808" y="347472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email</a:t>
            </a:r>
            <a:endParaRPr lang="en-US" sz="1400" dirty="0"/>
          </a:p>
        </p:txBody>
      </p:sp>
      <p:sp>
        <p:nvSpPr>
          <p:cNvPr id="11" name="a08-with"/>
          <p:cNvSpPr/>
          <p:nvPr/>
        </p:nvSpPr>
        <p:spPr>
          <a:xfrm>
            <a:off x="640080" y="42519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55526A"/>
            </a:solidFill>
            <a:prstDash val="dash"/>
          </a:ln>
        </p:spPr>
      </p:sp>
      <p:sp>
        <p:nvSpPr>
          <p:cNvPr id="12" name="a09-with"/>
          <p:cNvSpPr/>
          <p:nvPr/>
        </p:nvSpPr>
        <p:spPr>
          <a:xfrm>
            <a:off x="749808" y="425196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</a:t>
            </a:r>
            <a:endParaRPr lang="en-US" sz="1400" dirty="0"/>
          </a:p>
        </p:txBody>
      </p:sp>
      <p:sp>
        <p:nvSpPr>
          <p:cNvPr id="13" name="a10-fade"/>
          <p:cNvSpPr/>
          <p:nvPr/>
        </p:nvSpPr>
        <p:spPr>
          <a:xfrm>
            <a:off x="3429000" y="26060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3D2C8D"/>
          </a:solidFill>
          <a:ln w="19050">
            <a:solidFill>
              <a:srgbClr val="3D2C8D"/>
            </a:solidFill>
            <a:prstDash val="solid"/>
          </a:ln>
        </p:spPr>
      </p:sp>
      <p:sp>
        <p:nvSpPr>
          <p:cNvPr id="14" name="a11-with"/>
          <p:cNvSpPr/>
          <p:nvPr/>
        </p:nvSpPr>
        <p:spPr>
          <a:xfrm>
            <a:off x="3538728" y="260604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rules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times, rooms, Hinglish; a reason for each</a:t>
            </a:r>
            <a:endParaRPr lang="en-US" sz="1500" dirty="0"/>
          </a:p>
        </p:txBody>
      </p:sp>
      <p:sp>
        <p:nvSpPr>
          <p:cNvPr id="15" name="a12-with"/>
          <p:cNvSpPr/>
          <p:nvPr/>
        </p:nvSpPr>
        <p:spPr>
          <a:xfrm>
            <a:off x="2743200" y="2212848"/>
            <a:ext cx="685800" cy="987552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16" name="a13-with"/>
          <p:cNvSpPr/>
          <p:nvPr/>
        </p:nvSpPr>
        <p:spPr>
          <a:xfrm>
            <a:off x="2743200" y="2990088"/>
            <a:ext cx="685800" cy="210312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17" name="a14-with"/>
          <p:cNvSpPr/>
          <p:nvPr/>
        </p:nvSpPr>
        <p:spPr>
          <a:xfrm flipV="1">
            <a:off x="2743200" y="3200400"/>
            <a:ext cx="685800" cy="566928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18" name="a15-with"/>
          <p:cNvSpPr/>
          <p:nvPr/>
        </p:nvSpPr>
        <p:spPr>
          <a:xfrm flipV="1">
            <a:off x="2743200" y="3200400"/>
            <a:ext cx="685800" cy="1344168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19" name="a16-fade"/>
          <p:cNvSpPr/>
          <p:nvPr/>
        </p:nvSpPr>
        <p:spPr>
          <a:xfrm>
            <a:off x="6355080" y="19202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20" name="a17-with"/>
          <p:cNvSpPr/>
          <p:nvPr/>
        </p:nvSpPr>
        <p:spPr>
          <a:xfrm>
            <a:off x="6464808" y="19202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added, with Undo</a:t>
            </a:r>
            <a:endParaRPr lang="en-US" sz="1500" dirty="0"/>
          </a:p>
        </p:txBody>
      </p:sp>
      <p:sp>
        <p:nvSpPr>
          <p:cNvPr id="21" name="a18-with"/>
          <p:cNvSpPr/>
          <p:nvPr/>
        </p:nvSpPr>
        <p:spPr>
          <a:xfrm>
            <a:off x="6355080" y="30175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2" name="a19-with"/>
          <p:cNvSpPr/>
          <p:nvPr/>
        </p:nvSpPr>
        <p:spPr>
          <a:xfrm>
            <a:off x="6464808" y="301752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check suggests a name; you confirm</a:t>
            </a:r>
            <a:endParaRPr lang="en-US" sz="1500" dirty="0"/>
          </a:p>
        </p:txBody>
      </p:sp>
      <p:sp>
        <p:nvSpPr>
          <p:cNvPr id="23" name="a20-with"/>
          <p:cNvSpPr/>
          <p:nvPr/>
        </p:nvSpPr>
        <p:spPr>
          <a:xfrm flipV="1">
            <a:off x="5715000" y="2377440"/>
            <a:ext cx="640080" cy="640080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24" name="a21-with"/>
          <p:cNvSpPr/>
          <p:nvPr/>
        </p:nvSpPr>
        <p:spPr>
          <a:xfrm>
            <a:off x="5715000" y="3383280"/>
            <a:ext cx="640080" cy="137160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25" name="a22-fade"/>
          <p:cNvSpPr/>
          <p:nvPr/>
        </p:nvSpPr>
        <p:spPr>
          <a:xfrm>
            <a:off x="3429000" y="4434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7E1"/>
            </a:solidFill>
            <a:prstDash val="solid"/>
          </a:ln>
        </p:spPr>
      </p:sp>
      <p:sp>
        <p:nvSpPr>
          <p:cNvPr id="26" name="a23-with"/>
          <p:cNvSpPr/>
          <p:nvPr/>
        </p:nvSpPr>
        <p:spPr>
          <a:xfrm>
            <a:off x="3538728" y="443484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check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events at once? a deadline inside a class?</a:t>
            </a:r>
            <a:endParaRPr lang="en-US" sz="1500" dirty="0"/>
          </a:p>
        </p:txBody>
      </p:sp>
      <p:sp>
        <p:nvSpPr>
          <p:cNvPr id="27" name="a24-with"/>
          <p:cNvSpPr/>
          <p:nvPr/>
        </p:nvSpPr>
        <p:spPr>
          <a:xfrm>
            <a:off x="4572000" y="3794760"/>
            <a:ext cx="0" cy="640080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28" name="a25-with"/>
          <p:cNvSpPr/>
          <p:nvPr/>
        </p:nvSpPr>
        <p:spPr>
          <a:xfrm>
            <a:off x="6355080" y="4434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7E1"/>
            </a:solidFill>
            <a:prstDash val="solid"/>
          </a:ln>
        </p:spPr>
      </p:sp>
      <p:sp>
        <p:nvSpPr>
          <p:cNvPr id="29" name="a26-with"/>
          <p:cNvSpPr/>
          <p:nvPr/>
        </p:nvSpPr>
        <p:spPr>
          <a:xfrm>
            <a:off x="6464808" y="44348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phone, .ics or the class link</a:t>
            </a:r>
            <a:endParaRPr lang="en-US" sz="1500" dirty="0"/>
          </a:p>
        </p:txBody>
      </p:sp>
      <p:sp>
        <p:nvSpPr>
          <p:cNvPr id="30" name="a27-with"/>
          <p:cNvSpPr/>
          <p:nvPr/>
        </p:nvSpPr>
        <p:spPr>
          <a:xfrm>
            <a:off x="5715000" y="4892040"/>
            <a:ext cx="640080" cy="0"/>
          </a:xfrm>
          <a:prstGeom prst="line">
            <a:avLst/>
          </a:prstGeom>
          <a:noFill/>
          <a:ln w="22225">
            <a:solidFill>
              <a:srgbClr val="3D2C8D"/>
            </a:solidFill>
            <a:prstDash val="solid"/>
            <a:tailEnd type="triangle"/>
          </a:ln>
        </p:spPr>
      </p:sp>
      <p:sp>
        <p:nvSpPr>
          <p:cNvPr id="31" name="a28-fade"/>
          <p:cNvSpPr/>
          <p:nvPr/>
        </p:nvSpPr>
        <p:spPr>
          <a:xfrm>
            <a:off x="640080" y="5257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Dashed: a one-time install (Gmail script, Android app).</a:t>
            </a:r>
            <a:endParaRPr lang="en-US" sz="1200" dirty="0"/>
          </a:p>
        </p:txBody>
      </p:sp>
      <p:sp>
        <p:nvSpPr>
          <p:cNvPr id="32" name="a29-zoom"/>
          <p:cNvSpPr/>
          <p:nvPr/>
        </p:nvSpPr>
        <p:spPr>
          <a:xfrm>
            <a:off x="9144000" y="1920240"/>
            <a:ext cx="2423160" cy="3429000"/>
          </a:xfrm>
          <a:prstGeom prst="rect">
            <a:avLst/>
          </a:prstGeom>
          <a:solidFill>
            <a:srgbClr val="1D1B26"/>
          </a:solidFill>
          <a:ln/>
        </p:spPr>
      </p:sp>
      <p:sp>
        <p:nvSpPr>
          <p:cNvPr id="33" name="a30-with"/>
          <p:cNvSpPr/>
          <p:nvPr/>
        </p:nvSpPr>
        <p:spPr>
          <a:xfrm>
            <a:off x="9326880" y="1920240"/>
            <a:ext cx="2103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1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notices thrown at the rules</a:t>
            </a:r>
            <a:endParaRPr lang="en-US" sz="3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1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and fixed</a:t>
            </a:r>
            <a:endParaRPr lang="en-US" sz="3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1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+ 89 + 89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tests, browser checks and break checks pass on every change</a:t>
            </a:r>
            <a:endParaRPr lang="en-US" sz="3000" dirty="0"/>
          </a:p>
        </p:txBody>
      </p:sp>
      <p:sp>
        <p:nvSpPr>
          <p:cNvPr id="34" name="a31-fade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run in the browser, so the app works offline and the notice is read on your phone.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8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1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4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7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"/>
                            </p:stCondLst>
                            <p:childTnLst>
                              <p:par>
                                <p:cTn id="95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18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20" grpId="0" animBg="1"/>
      <p:bldP spid="22" grpId="0" animBg="1"/>
      <p:bldP spid="26" grpId="0" animBg="1"/>
      <p:bldP spid="29" grpId="0" animBg="1"/>
      <p:bldP spid="31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challenge's own poster, </a:t>
            </a:r>
            <a:r>
              <a:rPr lang="en-US" sz="3000" b="1" dirty="0">
                <a:solidFill>
                  <a:srgbClr val="1D1B26"/>
                </a:solidFill>
                <a:highlight>
                  <a:srgbClr val="B9F5A6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read on the phone.</a:t>
            </a:r>
            <a:endParaRPr lang="en-US" sz="3000" dirty="0"/>
          </a:p>
        </p:txBody>
      </p:sp>
      <p:pic>
        <p:nvPicPr>
          <p:cNvPr id="5" name="a02-fad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975982" cy="3749040"/>
          </a:xfrm>
          <a:prstGeom prst="rect">
            <a:avLst/>
          </a:prstGeom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6" name="a03-wipe"/>
          <p:cNvSpPr/>
          <p:nvPr/>
        </p:nvSpPr>
        <p:spPr>
          <a:xfrm>
            <a:off x="3725790" y="3657600"/>
            <a:ext cx="329184" cy="0"/>
          </a:xfrm>
          <a:prstGeom prst="line">
            <a:avLst/>
          </a:prstGeom>
          <a:noFill/>
          <a:ln w="28575">
            <a:solidFill>
              <a:srgbClr val="3D2C8D"/>
            </a:solidFill>
            <a:prstDash val="solid"/>
            <a:tailEnd type="triangle"/>
          </a:ln>
        </p:spPr>
      </p:sp>
      <p:pic>
        <p:nvPicPr>
          <p:cNvPr id="7" name="a04-fad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702" y="1783080"/>
            <a:ext cx="2824798" cy="3749040"/>
          </a:xfrm>
          <a:prstGeom prst="rect">
            <a:avLst/>
          </a:prstGeom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8" name="a05-wipe"/>
          <p:cNvSpPr/>
          <p:nvPr/>
        </p:nvSpPr>
        <p:spPr>
          <a:xfrm>
            <a:off x="640080" y="5715000"/>
            <a:ext cx="6349420" cy="640080"/>
          </a:xfrm>
          <a:prstGeom prst="rect">
            <a:avLst/>
          </a:prstGeom>
          <a:solidFill>
            <a:srgbClr val="B9F5A6"/>
          </a:solidFill>
          <a:ln/>
        </p:spPr>
      </p:sp>
      <p:sp>
        <p:nvSpPr>
          <p:cNvPr id="9" name="a06-with"/>
          <p:cNvSpPr/>
          <p:nvPr/>
        </p:nvSpPr>
        <p:spPr>
          <a:xfrm>
            <a:off x="822960" y="5715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Oct 2026, 2:20 PM, Room 208</a:t>
            </a:r>
            <a:r>
              <a:rPr lang="en-US" sz="17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photo never uploaded</a:t>
            </a:r>
            <a:endParaRPr lang="en-US" sz="1700" dirty="0"/>
          </a:p>
        </p:txBody>
      </p:sp>
      <p:sp>
        <p:nvSpPr>
          <p:cNvPr id="10" name="a07-fade"/>
          <p:cNvSpPr/>
          <p:nvPr/>
        </p:nvSpPr>
        <p:spPr>
          <a:xfrm>
            <a:off x="708660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calendar for the whole class</a:t>
            </a:r>
            <a:endParaRPr lang="en-US" sz="1800" dirty="0"/>
          </a:p>
        </p:txBody>
      </p:sp>
      <p:sp>
        <p:nvSpPr>
          <p:cNvPr id="11" name="a08-fade"/>
          <p:cNvSpPr/>
          <p:nvPr/>
        </p:nvSpPr>
        <p:spPr>
          <a:xfrm>
            <a:off x="7086600" y="233172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2" name="a09-with"/>
          <p:cNvSpPr/>
          <p:nvPr/>
        </p:nvSpPr>
        <p:spPr>
          <a:xfrm>
            <a:off x="7159752" y="233172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notice</a:t>
            </a:r>
            <a:endParaRPr lang="en-US" sz="1400" dirty="0"/>
          </a:p>
        </p:txBody>
      </p:sp>
      <p:sp>
        <p:nvSpPr>
          <p:cNvPr id="13" name="a10-fade"/>
          <p:cNvSpPr/>
          <p:nvPr/>
        </p:nvSpPr>
        <p:spPr>
          <a:xfrm>
            <a:off x="8613648" y="233172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4" name="a11-with"/>
          <p:cNvSpPr/>
          <p:nvPr/>
        </p:nvSpPr>
        <p:spPr>
          <a:xfrm>
            <a:off x="8686800" y="233172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new, 1 moved" first</a:t>
            </a:r>
            <a:endParaRPr lang="en-US" sz="1400" dirty="0"/>
          </a:p>
        </p:txBody>
      </p:sp>
      <p:sp>
        <p:nvSpPr>
          <p:cNvPr id="15" name="a12-with"/>
          <p:cNvSpPr/>
          <p:nvPr/>
        </p:nvSpPr>
        <p:spPr>
          <a:xfrm>
            <a:off x="8467344" y="2852928"/>
            <a:ext cx="137160" cy="0"/>
          </a:xfrm>
          <a:prstGeom prst="line">
            <a:avLst/>
          </a:prstGeom>
          <a:noFill/>
          <a:ln w="22225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16" name="a13-fade"/>
          <p:cNvSpPr/>
          <p:nvPr/>
        </p:nvSpPr>
        <p:spPr>
          <a:xfrm>
            <a:off x="10140696" y="233172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7" name="a14-with"/>
          <p:cNvSpPr/>
          <p:nvPr/>
        </p:nvSpPr>
        <p:spPr>
          <a:xfrm>
            <a:off x="10213848" y="233172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reminder</a:t>
            </a:r>
            <a:endParaRPr lang="en-US" sz="1400" dirty="0"/>
          </a:p>
        </p:txBody>
      </p:sp>
      <p:sp>
        <p:nvSpPr>
          <p:cNvPr id="18" name="a15-with"/>
          <p:cNvSpPr/>
          <p:nvPr/>
        </p:nvSpPr>
        <p:spPr>
          <a:xfrm>
            <a:off x="9994392" y="2852928"/>
            <a:ext cx="137160" cy="0"/>
          </a:xfrm>
          <a:prstGeom prst="line">
            <a:avLst/>
          </a:prstGeom>
          <a:noFill/>
          <a:ln w="22225">
            <a:solidFill>
              <a:srgbClr val="166534"/>
            </a:solidFill>
            <a:prstDash val="solid"/>
            <a:tailEnd type="triangle"/>
          </a:ln>
        </p:spPr>
      </p:sp>
      <p:graphicFrame>
        <p:nvGraphicFramePr>
          <p:cNvPr id="19" name="a16-fa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3657600"/>
          <a:ext cx="45262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the notice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class 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Google Calendar + reminder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"Postponed to 16 Nov"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B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there + notification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"Cancelled"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Removed; the rep can bring it 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notice from last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B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PAST and left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a17-fade"/>
          <p:cNvSpPr/>
          <p:nvPr/>
        </p:nvSpPr>
        <p:spPr>
          <a:xfrm>
            <a:off x="7086600" y="57607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once with Google, by link or QR. Term-wide clashes are checked on every publish.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8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6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9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1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63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16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69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2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4" grpId="0" animBg="1"/>
      <p:bldP spid="17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notice: </a:t>
            </a:r>
            <a:r>
              <a:rPr lang="en-US" sz="3200" b="1" dirty="0">
                <a:solidFill>
                  <a:srgbClr val="1D1B26"/>
                </a:solidFill>
                <a:highlight>
                  <a:srgbClr val="FFD59C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14 fields to type, now 0.</a:t>
            </a:r>
            <a:endParaRPr lang="en-US" sz="3200" dirty="0"/>
          </a:p>
        </p:txBody>
      </p:sp>
      <p:sp>
        <p:nvSpPr>
          <p:cNvPr id="5" name="a02-fade"/>
          <p:cNvSpPr/>
          <p:nvPr/>
        </p:nvSpPr>
        <p:spPr>
          <a:xfrm>
            <a:off x="25146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 today</a:t>
            </a:r>
            <a:endParaRPr lang="en-US" sz="1400" dirty="0"/>
          </a:p>
        </p:txBody>
      </p:sp>
      <p:sp>
        <p:nvSpPr>
          <p:cNvPr id="6" name="a03-with"/>
          <p:cNvSpPr/>
          <p:nvPr/>
        </p:nvSpPr>
        <p:spPr>
          <a:xfrm>
            <a:off x="49834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Notice Decoder</a:t>
            </a:r>
            <a:endParaRPr lang="en-US" sz="1400" dirty="0"/>
          </a:p>
        </p:txBody>
      </p:sp>
      <p:sp>
        <p:nvSpPr>
          <p:cNvPr id="7" name="a04-fade"/>
          <p:cNvSpPr/>
          <p:nvPr/>
        </p:nvSpPr>
        <p:spPr>
          <a:xfrm>
            <a:off x="640080" y="2286000"/>
            <a:ext cx="6766560" cy="0"/>
          </a:xfrm>
          <a:prstGeom prst="line">
            <a:avLst/>
          </a:prstGeom>
          <a:noFill/>
          <a:ln w="12700">
            <a:solidFill>
              <a:srgbClr val="D9D7E1"/>
            </a:solidFill>
            <a:prstDash val="solid"/>
          </a:ln>
        </p:spPr>
      </p:sp>
      <p:sp>
        <p:nvSpPr>
          <p:cNvPr id="8" name="a05-with"/>
          <p:cNvSpPr/>
          <p:nvPr/>
        </p:nvSpPr>
        <p:spPr>
          <a:xfrm>
            <a:off x="640080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</a:t>
            </a:r>
            <a:endParaRPr lang="en-US" sz="1600" dirty="0"/>
          </a:p>
        </p:txBody>
      </p:sp>
      <p:sp>
        <p:nvSpPr>
          <p:cNvPr id="9" name="a06-with"/>
          <p:cNvSpPr/>
          <p:nvPr/>
        </p:nvSpPr>
        <p:spPr>
          <a:xfrm>
            <a:off x="251460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fields for 3 events</a:t>
            </a:r>
            <a:endParaRPr lang="en-US" sz="1500" dirty="0"/>
          </a:p>
        </p:txBody>
      </p:sp>
      <p:sp>
        <p:nvSpPr>
          <p:cNvPr id="10" name="a07-wipe"/>
          <p:cNvSpPr/>
          <p:nvPr/>
        </p:nvSpPr>
        <p:spPr>
          <a:xfrm>
            <a:off x="498348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B26"/>
                </a:solidFill>
                <a:highlight>
                  <a:srgbClr val="FFD59C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0 fields</a:t>
            </a:r>
            <a:endParaRPr lang="en-US" sz="1500" dirty="0"/>
          </a:p>
        </p:txBody>
      </p:sp>
      <p:sp>
        <p:nvSpPr>
          <p:cNvPr id="11" name="a08-fade"/>
          <p:cNvSpPr/>
          <p:nvPr/>
        </p:nvSpPr>
        <p:spPr>
          <a:xfrm>
            <a:off x="640080" y="3063240"/>
            <a:ext cx="6766560" cy="0"/>
          </a:xfrm>
          <a:prstGeom prst="line">
            <a:avLst/>
          </a:prstGeom>
          <a:noFill/>
          <a:ln w="12700">
            <a:solidFill>
              <a:srgbClr val="D9D7E1"/>
            </a:solidFill>
            <a:prstDash val="solid"/>
          </a:ln>
        </p:spPr>
      </p:sp>
      <p:sp>
        <p:nvSpPr>
          <p:cNvPr id="12" name="a09-with"/>
          <p:cNvSpPr/>
          <p:nvPr/>
        </p:nvSpPr>
        <p:spPr>
          <a:xfrm>
            <a:off x="64008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Clashes</a:t>
            </a:r>
            <a:endParaRPr lang="en-US" sz="1600" dirty="0"/>
          </a:p>
        </p:txBody>
      </p:sp>
      <p:sp>
        <p:nvSpPr>
          <p:cNvPr id="13" name="a10-with"/>
          <p:cNvSpPr/>
          <p:nvPr/>
        </p:nvSpPr>
        <p:spPr>
          <a:xfrm>
            <a:off x="2514600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the day</a:t>
            </a:r>
            <a:endParaRPr lang="en-US" sz="1500" dirty="0"/>
          </a:p>
        </p:txBody>
      </p:sp>
      <p:sp>
        <p:nvSpPr>
          <p:cNvPr id="14" name="a11-wipe"/>
          <p:cNvSpPr/>
          <p:nvPr/>
        </p:nvSpPr>
        <p:spPr>
          <a:xfrm>
            <a:off x="4983480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B26"/>
                </a:solidFill>
                <a:highlight>
                  <a:srgbClr val="FFD59C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2 found before the day</a:t>
            </a:r>
            <a:endParaRPr lang="en-US" sz="1500" dirty="0"/>
          </a:p>
        </p:txBody>
      </p:sp>
      <p:sp>
        <p:nvSpPr>
          <p:cNvPr id="15" name="a12-fade"/>
          <p:cNvSpPr/>
          <p:nvPr/>
        </p:nvSpPr>
        <p:spPr>
          <a:xfrm>
            <a:off x="640080" y="3840480"/>
            <a:ext cx="6766560" cy="0"/>
          </a:xfrm>
          <a:prstGeom prst="line">
            <a:avLst/>
          </a:prstGeom>
          <a:noFill/>
          <a:ln w="12700">
            <a:solidFill>
              <a:srgbClr val="D9D7E1"/>
            </a:solidFill>
            <a:prstDash val="solid"/>
          </a:ln>
        </p:spPr>
      </p:sp>
      <p:sp>
        <p:nvSpPr>
          <p:cNvPr id="16" name="a13-with"/>
          <p:cNvSpPr/>
          <p:nvPr/>
        </p:nvSpPr>
        <p:spPr>
          <a:xfrm>
            <a:off x="640080" y="3931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</a:t>
            </a:r>
            <a:endParaRPr lang="en-US" sz="1600" dirty="0"/>
          </a:p>
        </p:txBody>
      </p:sp>
      <p:sp>
        <p:nvSpPr>
          <p:cNvPr id="17" name="a14-with"/>
          <p:cNvSpPr/>
          <p:nvPr/>
        </p:nvSpPr>
        <p:spPr>
          <a:xfrm>
            <a:off x="25146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at a time</a:t>
            </a:r>
            <a:endParaRPr lang="en-US" sz="1500" dirty="0"/>
          </a:p>
        </p:txBody>
      </p:sp>
      <p:sp>
        <p:nvSpPr>
          <p:cNvPr id="18" name="a15-wipe"/>
          <p:cNvSpPr/>
          <p:nvPr/>
        </p:nvSpPr>
        <p:spPr>
          <a:xfrm>
            <a:off x="498348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B26"/>
                </a:solidFill>
                <a:highlight>
                  <a:srgbClr val="FFD59C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1 tap for all 3</a:t>
            </a:r>
            <a:endParaRPr lang="en-US" sz="1500" dirty="0"/>
          </a:p>
        </p:txBody>
      </p:sp>
      <p:sp>
        <p:nvSpPr>
          <p:cNvPr id="19" name="a16-fade"/>
          <p:cNvSpPr/>
          <p:nvPr/>
        </p:nvSpPr>
        <p:spPr>
          <a:xfrm>
            <a:off x="640080" y="4617720"/>
            <a:ext cx="6766560" cy="0"/>
          </a:xfrm>
          <a:prstGeom prst="line">
            <a:avLst/>
          </a:prstGeom>
          <a:noFill/>
          <a:ln w="12700">
            <a:solidFill>
              <a:srgbClr val="D9D7E1"/>
            </a:solidFill>
            <a:prstDash val="solid"/>
          </a:ln>
        </p:spPr>
      </p:sp>
      <p:sp>
        <p:nvSpPr>
          <p:cNvPr id="20" name="a17-with"/>
          <p:cNvSpPr/>
          <p:nvPr/>
        </p:nvSpPr>
        <p:spPr>
          <a:xfrm>
            <a:off x="640080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revised notice</a:t>
            </a:r>
            <a:endParaRPr lang="en-US" sz="1600" dirty="0"/>
          </a:p>
        </p:txBody>
      </p:sp>
      <p:sp>
        <p:nvSpPr>
          <p:cNvPr id="21" name="a18-with"/>
          <p:cNvSpPr/>
          <p:nvPr/>
        </p:nvSpPr>
        <p:spPr>
          <a:xfrm>
            <a:off x="251460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edits again</a:t>
            </a:r>
            <a:endParaRPr lang="en-US" sz="1500" dirty="0"/>
          </a:p>
        </p:txBody>
      </p:sp>
      <p:sp>
        <p:nvSpPr>
          <p:cNvPr id="22" name="a19-wipe"/>
          <p:cNvSpPr/>
          <p:nvPr/>
        </p:nvSpPr>
        <p:spPr>
          <a:xfrm>
            <a:off x="4983480" y="4709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B26"/>
                </a:solidFill>
                <a:highlight>
                  <a:srgbClr val="FFD59C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rep publishes once; calendars move</a:t>
            </a:r>
            <a:endParaRPr lang="en-US" sz="1500" dirty="0"/>
          </a:p>
        </p:txBody>
      </p:sp>
      <p:sp>
        <p:nvSpPr>
          <p:cNvPr id="23" name="a20-fade"/>
          <p:cNvSpPr/>
          <p:nvPr/>
        </p:nvSpPr>
        <p:spPr>
          <a:xfrm>
            <a:off x="640080" y="5486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by the app itself on the sample notice (3 events, 14 fields, 0 to check).</a:t>
            </a:r>
            <a:endParaRPr lang="en-US" sz="1200" dirty="0"/>
          </a:p>
        </p:txBody>
      </p:sp>
      <p:sp>
        <p:nvSpPr>
          <p:cNvPr id="24" name="a21-fade"/>
          <p:cNvSpPr/>
          <p:nvPr/>
        </p:nvSpPr>
        <p:spPr>
          <a:xfrm>
            <a:off x="7863840" y="1828800"/>
            <a:ext cx="3703320" cy="4480560"/>
          </a:xfrm>
          <a:prstGeom prst="rect">
            <a:avLst/>
          </a:prstGeom>
          <a:solidFill>
            <a:srgbClr val="F1F0F5"/>
          </a:solidFill>
          <a:ln/>
        </p:spPr>
      </p:sp>
      <p:sp>
        <p:nvSpPr>
          <p:cNvPr id="25" name="a22-with"/>
          <p:cNvSpPr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</a:t>
            </a:r>
            <a:endParaRPr lang="en-US" sz="1800" dirty="0"/>
          </a:p>
        </p:txBody>
      </p:sp>
      <p:sp>
        <p:nvSpPr>
          <p:cNvPr id="26" name="a23-zoom"/>
          <p:cNvSpPr/>
          <p:nvPr/>
        </p:nvSpPr>
        <p:spPr>
          <a:xfrm>
            <a:off x="813816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D2C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₹2,999</a:t>
            </a:r>
            <a:endParaRPr lang="en-US" sz="4400" dirty="0"/>
          </a:p>
        </p:txBody>
      </p:sp>
      <p:sp>
        <p:nvSpPr>
          <p:cNvPr id="27" name="a24-fade"/>
          <p:cNvSpPr/>
          <p:nvPr/>
        </p:nvSpPr>
        <p:spPr>
          <a:xfrm>
            <a:off x="813816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department per year: our proposed price; the first term is free</a:t>
            </a:r>
            <a:endParaRPr lang="en-US" sz="1300" dirty="0"/>
          </a:p>
        </p:txBody>
      </p:sp>
      <p:sp>
        <p:nvSpPr>
          <p:cNvPr id="28" name="a25-with"/>
          <p:cNvSpPr/>
          <p:nvPr/>
        </p:nvSpPr>
        <p:spPr>
          <a:xfrm>
            <a:off x="8138160" y="40690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r>
              <a:rPr lang="en-US" sz="14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free; the rules run on the phone.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or a teacher </a:t>
            </a:r>
            <a:r>
              <a:rPr lang="en-US" sz="14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publishes; the HOD pays.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</a:t>
            </a:r>
            <a:r>
              <a:rPr lang="en-US" sz="1400" dirty="0">
                <a:solidFill>
                  <a:srgbClr val="1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college has paid yet.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8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1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9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32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1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3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41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94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72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25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780"/>
                            </p:stCondLst>
                            <p:childTnLst>
                              <p:par>
                                <p:cTn id="83" presetID="2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36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/>
          <p:nvPr/>
        </p:nvSpPr>
        <p:spPr>
          <a:xfrm>
            <a:off x="640080" y="292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Decoder</a:t>
            </a:r>
            <a:endParaRPr lang="en-US" sz="1500" dirty="0"/>
          </a:p>
        </p:txBody>
      </p:sp>
      <p:sp>
        <p:nvSpPr>
          <p:cNvPr id="3" name="!!event"/>
          <p:cNvSpPr/>
          <p:nvPr/>
        </p:nvSpPr>
        <p:spPr>
          <a:xfrm>
            <a:off x="6583680" y="31089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ACEM  |  Smart Campus Innovation Challenge</a:t>
            </a:r>
            <a:endParaRPr lang="en-US" sz="1100" dirty="0"/>
          </a:p>
        </p:txBody>
      </p:sp>
      <p:sp>
        <p:nvSpPr>
          <p:cNvPr id="4" name="a01-wipe"/>
          <p:cNvSpPr/>
          <p:nvPr/>
        </p:nvSpPr>
        <p:spPr>
          <a:xfrm>
            <a:off x="640080" y="12801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it. </a:t>
            </a:r>
            <a:r>
              <a:rPr lang="en-US" sz="4000" b="1" dirty="0">
                <a:solidFill>
                  <a:srgbClr val="1D1B26"/>
                </a:solidFill>
                <a:highlight>
                  <a:srgbClr val="FFF176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Paste any notice from your class group.</a:t>
            </a:r>
            <a:endParaRPr lang="en-US" sz="4000" dirty="0"/>
          </a:p>
        </p:txBody>
      </p:sp>
      <p:sp>
        <p:nvSpPr>
          <p:cNvPr id="5" name="a02-fade"/>
          <p:cNvSpPr/>
          <p:nvPr/>
        </p:nvSpPr>
        <p:spPr>
          <a:xfrm>
            <a:off x="640080" y="3566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real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APSIT Mumbai stopped sharing notices in WhatsApp groups (e-notice board post, 23 Sep 2025). Jamia Millia Islamia keeps academic notices in class-rep groups (Careers360, 9 Sep 2026). St Agnes College, Mangaluru set exams in the Dasara holidays and students protested (PTI via Careers360, 12 Oct 2026).</a:t>
            </a:r>
            <a:endParaRPr lang="en-US" sz="1300" dirty="0"/>
          </a:p>
        </p:txBody>
      </p:sp>
      <p:sp>
        <p:nvSpPr>
          <p:cNvPr id="6" name="a03-fade"/>
          <p:cNvSpPr/>
          <p:nvPr/>
        </p:nvSpPr>
        <p:spPr>
          <a:xfrm>
            <a:off x="640080" y="5806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Nova Nexus: Ankit, Ankit Kumar, Apoorv. Thank you.</a:t>
            </a:r>
            <a:endParaRPr lang="en-US" sz="1600" dirty="0"/>
          </a:p>
        </p:txBody>
      </p:sp>
      <p:sp>
        <p:nvSpPr>
          <p:cNvPr id="7" name="!!qrcard"/>
          <p:cNvSpPr/>
          <p:nvPr/>
        </p:nvSpPr>
        <p:spPr>
          <a:xfrm>
            <a:off x="7635240" y="86868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8" name="!!q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143000"/>
            <a:ext cx="3291840" cy="3291840"/>
          </a:xfrm>
          <a:prstGeom prst="rect">
            <a:avLst/>
          </a:prstGeom>
        </p:spPr>
      </p:pic>
      <p:sp>
        <p:nvSpPr>
          <p:cNvPr id="9" name="!!qrlabel">
            <a:hlinkClick r:id="rId4"/>
          </p:cNvPr>
          <p:cNvSpPr/>
          <p:nvPr/>
        </p:nvSpPr>
        <p:spPr>
          <a:xfrm>
            <a:off x="7635240" y="4572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noticedecoder.pages.dev/app</a:t>
            </a:r>
            <a:endParaRPr lang="en-US" sz="1600" dirty="0"/>
          </a:p>
        </p:txBody>
      </p:sp>
      <p:pic>
        <p:nvPicPr>
          <p:cNvPr id="10" name="a04-fad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5440680"/>
            <a:ext cx="868680" cy="868680"/>
          </a:xfrm>
          <a:prstGeom prst="rect">
            <a:avLst/>
          </a:prstGeom>
        </p:spPr>
      </p:pic>
      <p:sp>
        <p:nvSpPr>
          <p:cNvPr id="11" name="a05-with">
            <a:hlinkClick r:id="rId6"/>
          </p:cNvPr>
          <p:cNvSpPr/>
          <p:nvPr/>
        </p:nvSpPr>
        <p:spPr>
          <a:xfrm>
            <a:off x="8732520" y="5669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video: youtu.be/joI75POVTr0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Office PowerPoint</Application>
  <PresentationFormat>Widescreen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Notice Decoder</dc:title>
  <dc:subject>PptxGenJS Presentation</dc:subject>
  <dc:creator>Team Nova Nexus</dc:creator>
  <cp:lastModifiedBy>ANKIT Kumar</cp:lastModifiedBy>
  <cp:revision>2</cp:revision>
  <dcterms:created xsi:type="dcterms:W3CDTF">2026-10-27T16:32:50Z</dcterms:created>
  <dcterms:modified xsi:type="dcterms:W3CDTF">2026-10-27T16:32:59Z</dcterms:modified>
</cp:coreProperties>
</file>