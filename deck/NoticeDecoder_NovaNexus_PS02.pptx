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youtu.be/joI75POVTr0" TargetMode="External"/><Relationship Id="rId7" Type="http://schemas.openxmlformats.org/officeDocument/2006/relationships/image" Target="../media/image5.png"/><Relationship Id="rId8" Type="http://schemas.openxmlformats.org/officeDocument/2006/relationships/hyperlink" Target="https://anki1kr.me/NoticeDecoder/" TargetMode="External"/><Relationship Id="rId9" Type="http://schemas.openxmlformats.org/officeDocument/2006/relationships/image" Target="../media/image6.png"/><Relationship Id="rId10" Type="http://schemas.openxmlformats.org/officeDocument/2006/relationships/hyperlink" Target="https://github.com/anki1kr/NoticeDecode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fedena.com/pricing-and-plans" TargetMode="External"/><Relationship Id="rId5" Type="http://schemas.openxmlformats.org/officeDocument/2006/relationships/image" Target="../media/image4.png"/><Relationship Id="rId6" Type="http://schemas.openxmlformats.org/officeDocument/2006/relationships/hyperlink" Target="https://youtu.be/joI75POVTr0" TargetMode="External"/><Relationship Id="rId7" Type="http://schemas.openxmlformats.org/officeDocument/2006/relationships/image" Target="../media/image5.png"/><Relationship Id="rId8" Type="http://schemas.openxmlformats.org/officeDocument/2006/relationships/hyperlink" Target="https://anki1kr.me/NoticeDecoder/" TargetMode="External"/><Relationship Id="rId9" Type="http://schemas.openxmlformats.org/officeDocument/2006/relationships/image" Target="../media/image6.png"/><Relationship Id="rId10" Type="http://schemas.openxmlformats.org/officeDocument/2006/relationships/hyperlink" Target="https://github.com/anki1kr/NoticeDecoder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/>
          <p:cNvSpPr/>
          <p:nvPr/>
        </p:nvSpPr>
        <p:spPr>
          <a:xfrm>
            <a:off x="411480" y="1261872"/>
            <a:ext cx="4993639" cy="182880"/>
          </a:xfrm>
          <a:prstGeom prst="roundRect">
            <a:avLst>
              <a:gd name="adj" fmla="val 50000"/>
            </a:avLst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411480" y="960120"/>
            <a:ext cx="6492240" cy="685800"/>
          </a:xfrm>
        </p:spPr>
        <p:txBody>
          <a:bodyPr anchor="t" tIns="0" bIns="0"/>
          <a:lstStyle/>
          <a:p>
            <a:pPr algn="l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NOTICE DECODER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SETU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sz="1800" b="0"/>
              <a:t>PS-02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sz="1800" b="0"/>
              <a:t>Notice Decoder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Realm – </a:t>
            </a:r>
            <a:r>
              <a:rPr sz="1800" b="0"/>
              <a:t>Forge Realm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Category – </a:t>
            </a:r>
            <a:r>
              <a:rPr sz="1800" b="0"/>
              <a:t>Software (web app)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sz="1800" b="0"/>
              <a:t>Nova Nexus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Members – </a:t>
            </a:r>
            <a:r>
              <a:rPr sz="1800" b="0"/>
              <a:t>Ankit Kumar (Leader), Ankit, Ashwani Tanwar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1">
                <a:solidFill>
                  <a:srgbClr val="5B6370"/>
                </a:solidFill>
                <a:latin typeface="Calibri"/>
              </a:rPr>
              <a:t>Paste a college notice. Its dates go into your calendar, with clashes marked.</a:t>
            </a:r>
          </a:p>
        </p:txBody>
      </p:sp>
      <p:pic>
        <p:nvPicPr>
          <p:cNvPr id="13" name="Picture 12" descr="phone-results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1325880"/>
            <a:ext cx="2331720" cy="3280351"/>
          </a:xfrm>
          <a:prstGeom prst="rect">
            <a:avLst/>
          </a:prstGeom>
          <a:ln w="12700">
            <a:solidFill>
              <a:srgbClr val="C9D2DF"/>
            </a:solidFill>
          </a:ln>
        </p:spPr>
      </p:pic>
      <p:pic>
        <p:nvPicPr>
          <p:cNvPr id="14" name="Picture 13" descr="qr-demovideo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5560" y="1097280"/>
            <a:ext cx="1097280" cy="109728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829800" y="2221991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6"/>
              </a:rPr>
              <a:t>Demo video</a:t>
            </a:r>
            <a:r>
              <a:t> </a:t>
            </a:r>
          </a:p>
        </p:txBody>
      </p:sp>
      <p:pic>
        <p:nvPicPr>
          <p:cNvPr id="16" name="Picture 15" descr="qr-website.png">
            <a:hlinkClick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5560" y="2788920"/>
            <a:ext cx="1097280" cy="109728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9829800" y="3913632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8"/>
              </a:rPr>
              <a:t>Website</a:t>
            </a:r>
            <a:r>
              <a:t> </a:t>
            </a:r>
          </a:p>
        </p:txBody>
      </p:sp>
      <p:pic>
        <p:nvPicPr>
          <p:cNvPr id="18" name="Picture 17" descr="qr-github.png">
            <a:hlinkClick r:id="rId10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95560" y="4480560"/>
            <a:ext cx="1097280" cy="109728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9829800" y="5605272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10"/>
              </a:rPr>
              <a:t>GitHub</a:t>
            </a:r>
            <a:r>
              <a:t>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228600"/>
            <a:ext cx="2514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ounded Rectangle 15361"/>
          <p:cNvSpPr/>
          <p:nvPr/>
        </p:nvSpPr>
        <p:spPr>
          <a:xfrm>
            <a:off x="3360420" y="658368"/>
            <a:ext cx="4526279" cy="164592"/>
          </a:xfrm>
          <a:prstGeom prst="roundRect">
            <a:avLst>
              <a:gd name="adj" fmla="val 50000"/>
            </a:avLst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NOTICE DECODER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@SETU 2026  PS-02 Idea Submission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500"/>
              <a:t>Nova Nexus</a:t>
            </a:r>
            <a:endParaRPr lang="en-IN" dirty="0"/>
          </a:p>
        </p:txBody>
      </p:sp>
      <p:sp>
        <p:nvSpPr>
          <p:cNvPr id="15363" name="TextBox 15362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11480" y="1188720"/>
            <a:ext cx="5623560" cy="384048"/>
          </a:xfrm>
          <a:prstGeom prst="roundRect">
            <a:avLst>
              <a:gd name="adj" fmla="val 18000"/>
            </a:avLst>
          </a:prstGeom>
          <a:solidFill>
            <a:srgbClr val="FFF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466344" y="1188720"/>
            <a:ext cx="553212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E5400"/>
                </a:solidFill>
                <a:latin typeface="Calibri"/>
              </a:rPr>
              <a:t>The problem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11480" y="1627632"/>
            <a:ext cx="56235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62A33"/>
                </a:solidFill>
                <a:latin typeface="Calibri"/>
              </a:rPr>
              <a:t>Notices come as long paragraphs. Students miss dates, and find clashes too late.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6153912" y="1188720"/>
            <a:ext cx="5623560" cy="384048"/>
          </a:xfrm>
          <a:prstGeom prst="roundRect">
            <a:avLst>
              <a:gd name="adj" fmla="val 18000"/>
            </a:avLst>
          </a:prstGeom>
          <a:solidFill>
            <a:srgbClr val="FFF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TextBox 15367"/>
          <p:cNvSpPr txBox="1"/>
          <p:nvPr/>
        </p:nvSpPr>
        <p:spPr>
          <a:xfrm>
            <a:off x="6208776" y="1188720"/>
            <a:ext cx="553212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E5400"/>
                </a:solidFill>
                <a:latin typeface="Calibri"/>
              </a:rPr>
              <a:t>Our idea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6153912" y="1627632"/>
            <a:ext cx="56235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62A33"/>
                </a:solidFill>
                <a:latin typeface="Calibri"/>
              </a:rPr>
              <a:t>Paste a notice. The app finds each event, shows the words it read, checks for clashes and adds the </a:t>
            </a:r>
            <a:r>
              <a:rPr sz="1500" b="1">
                <a:solidFill>
                  <a:srgbClr val="262A33"/>
                </a:solidFill>
                <a:highlight>
                  <a:srgbClr val="FFF176"/>
                </a:highlight>
                <a:latin typeface="Calibri"/>
              </a:rPr>
              <a:t>calendar events</a:t>
            </a:r>
            <a:r>
              <a:rPr sz="1500" b="0">
                <a:solidFill>
                  <a:srgbClr val="262A33"/>
                </a:solidFill>
                <a:latin typeface="Calibri"/>
              </a:rPr>
              <a:t>.</a:t>
            </a:r>
          </a:p>
        </p:txBody>
      </p:sp>
      <p:pic>
        <p:nvPicPr>
          <p:cNvPr id="15370" name="Picture 15369" descr="shot-sol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77440"/>
            <a:ext cx="6035040" cy="3198345"/>
          </a:xfrm>
          <a:prstGeom prst="rect">
            <a:avLst/>
          </a:prstGeom>
          <a:ln w="12700">
            <a:solidFill>
              <a:srgbClr val="C9D2DF"/>
            </a:solidFill>
          </a:ln>
        </p:spPr>
      </p:pic>
      <p:sp>
        <p:nvSpPr>
          <p:cNvPr id="15371" name="Oval 15370"/>
          <p:cNvSpPr/>
          <p:nvPr/>
        </p:nvSpPr>
        <p:spPr>
          <a:xfrm>
            <a:off x="484632" y="2366087"/>
            <a:ext cx="310896" cy="310896"/>
          </a:xfrm>
          <a:prstGeom prst="ellipse">
            <a:avLst/>
          </a:prstGeom>
          <a:solidFill>
            <a:srgbClr val="6E54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372" name="Oval 15371"/>
          <p:cNvSpPr/>
          <p:nvPr/>
        </p:nvSpPr>
        <p:spPr>
          <a:xfrm>
            <a:off x="484632" y="3521672"/>
            <a:ext cx="310896" cy="310896"/>
          </a:xfrm>
          <a:prstGeom prst="ellipse">
            <a:avLst/>
          </a:prstGeom>
          <a:solidFill>
            <a:srgbClr val="6E54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373" name="Oval 15372"/>
          <p:cNvSpPr/>
          <p:nvPr/>
        </p:nvSpPr>
        <p:spPr>
          <a:xfrm>
            <a:off x="484632" y="4894813"/>
            <a:ext cx="310896" cy="310896"/>
          </a:xfrm>
          <a:prstGeom prst="ellipse">
            <a:avLst/>
          </a:prstGeom>
          <a:solidFill>
            <a:srgbClr val="6E54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502920" y="5667225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1</a:t>
            </a:r>
            <a:r>
              <a:rPr sz="1300" b="0">
                <a:solidFill>
                  <a:srgbClr val="262A33"/>
                </a:solidFill>
                <a:latin typeface="Calibri"/>
              </a:rPr>
              <a:t> The answer first     </a:t>
            </a:r>
            <a:r>
              <a:rPr sz="1300" b="1">
                <a:solidFill>
                  <a:srgbClr val="1F497D"/>
                </a:solidFill>
                <a:latin typeface="Calibri"/>
              </a:rPr>
              <a:t>2</a:t>
            </a:r>
            <a:r>
              <a:rPr sz="1300" b="0">
                <a:solidFill>
                  <a:srgbClr val="262A33"/>
                </a:solidFill>
                <a:latin typeface="Calibri"/>
              </a:rPr>
              <a:t> Each date shows the words it came from     </a:t>
            </a:r>
            <a:r>
              <a:rPr sz="1300" b="1">
                <a:solidFill>
                  <a:srgbClr val="1F497D"/>
                </a:solidFill>
                <a:latin typeface="Calibri"/>
              </a:rPr>
              <a:t>3</a:t>
            </a:r>
            <a:r>
              <a:rPr sz="1300" b="0">
                <a:solidFill>
                  <a:srgbClr val="262A33"/>
                </a:solidFill>
                <a:latin typeface="Calibri"/>
              </a:rPr>
              <a:t> One line per event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7178040" y="2377440"/>
            <a:ext cx="4599432" cy="384048"/>
          </a:xfrm>
          <a:prstGeom prst="roundRect">
            <a:avLst>
              <a:gd name="adj" fmla="val 18000"/>
            </a:avLst>
          </a:prstGeom>
          <a:solidFill>
            <a:srgbClr val="FFF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7232903" y="2377440"/>
            <a:ext cx="4507992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E5400"/>
                </a:solidFill>
                <a:latin typeface="Calibri"/>
              </a:rPr>
              <a:t>Why it is different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7178040" y="2834640"/>
            <a:ext cx="4599432" cy="2651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Shows its working.</a:t>
            </a:r>
            <a:r>
              <a:rPr sz="1400" b="0">
                <a:solidFill>
                  <a:srgbClr val="262A33"/>
                </a:solidFill>
                <a:latin typeface="Calibri"/>
              </a:rPr>
              <a:t> Every date, time and room points to the words it came from.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Asks when unsure.</a:t>
            </a:r>
            <a:r>
              <a:rPr sz="1400" b="0">
                <a:solidFill>
                  <a:srgbClr val="262A33"/>
                </a:solidFill>
                <a:latin typeface="Calibri"/>
              </a:rPr>
              <a:t> "Thursday? But 13 Nov 2026 is a Friday."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Finds clashes.</a:t>
            </a:r>
            <a:r>
              <a:rPr sz="1400" b="0">
                <a:solidFill>
                  <a:srgbClr val="262A33"/>
                </a:solidFill>
                <a:latin typeface="Calibri"/>
              </a:rPr>
              <a:t> Two events at once, or a deadline during a class.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No AI.</a:t>
            </a:r>
            <a:r>
              <a:rPr sz="1400" b="0">
                <a:solidFill>
                  <a:srgbClr val="262A33"/>
                </a:solidFill>
                <a:latin typeface="Calibri"/>
              </a:rPr>
              <a:t> Same answer every time, and the reading happens on the phone.</a:t>
            </a:r>
          </a:p>
        </p:txBody>
      </p:sp>
      <p:sp>
        <p:nvSpPr>
          <p:cNvPr id="15378" name="Rectangle 15377"/>
          <p:cNvSpPr/>
          <p:nvPr/>
        </p:nvSpPr>
        <p:spPr>
          <a:xfrm>
            <a:off x="7178040" y="5532120"/>
            <a:ext cx="4599432" cy="713232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/>
            <a:r>
              <a:rPr sz="2000" b="1">
                <a:solidFill>
                  <a:srgbClr val="262A33"/>
                </a:solidFill>
                <a:latin typeface="Calibri"/>
              </a:rPr>
              <a:t>3 of 3 events right</a:t>
            </a:r>
          </a:p>
          <a:p>
            <a:r>
              <a:rPr sz="1300" b="0">
                <a:solidFill>
                  <a:srgbClr val="262A33"/>
                </a:solidFill>
                <a:latin typeface="Calibri"/>
              </a:rPr>
              <a:t>and both clashes found on the PS-02 example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ounded Rectangle 17409"/>
          <p:cNvSpPr/>
          <p:nvPr/>
        </p:nvSpPr>
        <p:spPr>
          <a:xfrm>
            <a:off x="2726447" y="658368"/>
            <a:ext cx="5794224" cy="164592"/>
          </a:xfrm>
          <a:prstGeom prst="roundRect">
            <a:avLst>
              <a:gd name="adj" fmla="val 50000"/>
            </a:avLst>
          </a:prstGeom>
          <a:solidFill>
            <a:srgbClr val="B8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@SETU 2026  PS-02 Idea Submission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500"/>
              <a:t>Nova Nexus</a:t>
            </a:r>
            <a:endParaRPr lang="en-IN" dirty="0"/>
          </a:p>
        </p:txBody>
      </p:sp>
      <p:sp>
        <p:nvSpPr>
          <p:cNvPr id="17411" name="TextBox 17410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88720"/>
            <a:ext cx="4983480" cy="384048"/>
          </a:xfrm>
          <a:prstGeom prst="roundRect">
            <a:avLst>
              <a:gd name="adj" fmla="val 18000"/>
            </a:avLst>
          </a:prstGeom>
          <a:solidFill>
            <a:srgbClr val="E2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66344" y="1188720"/>
            <a:ext cx="489204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5586"/>
                </a:solidFill>
                <a:latin typeface="Calibri"/>
              </a:rPr>
              <a:t>What we use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11480" y="1691640"/>
            <a:ext cx="4983480" cy="3566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App:</a:t>
            </a:r>
            <a:r>
              <a:rPr sz="1400" b="0">
                <a:solidFill>
                  <a:srgbClr val="262A33"/>
                </a:solidFill>
                <a:latin typeface="Calibri"/>
              </a:rPr>
              <a:t> a web page in plain JavaScript. It runs in the browser, so it works offline.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Reading rules:</a:t>
            </a:r>
            <a:r>
              <a:rPr sz="1400" b="0">
                <a:solidFill>
                  <a:srgbClr val="262A33"/>
                </a:solidFill>
                <a:latin typeface="Calibri"/>
              </a:rPr>
              <a:t> dates (13 Nov, 13/11/2026), times (2 PM, 14:00, 12 noon), rooms, and words like "postponed to".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Photos and PDFs:</a:t>
            </a:r>
            <a:r>
              <a:rPr sz="1400" b="0">
                <a:solidFill>
                  <a:srgbClr val="262A33"/>
                </a:solidFill>
                <a:latin typeface="Calibri"/>
              </a:rPr>
              <a:t> read on the phone; every date from a photo is marked for a check.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Calendar:</a:t>
            </a:r>
            <a:r>
              <a:rPr sz="1400" b="0">
                <a:solidFill>
                  <a:srgbClr val="262A33"/>
                </a:solidFill>
                <a:latin typeface="Calibri"/>
              </a:rPr>
              <a:t> an .ics file, Google Calendar in one tap, or a class calendar link from a free Cloudflare Worker.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Tested:</a:t>
            </a:r>
            <a:r>
              <a:rPr sz="1400" b="0">
                <a:solidFill>
                  <a:srgbClr val="262A33"/>
                </a:solidFill>
                <a:latin typeface="Calibri"/>
              </a:rPr>
              <a:t> 34 rule tests and 75 browser checks run on every change.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669280" y="1188720"/>
            <a:ext cx="6108192" cy="384048"/>
          </a:xfrm>
          <a:prstGeom prst="roundRect">
            <a:avLst>
              <a:gd name="adj" fmla="val 18000"/>
            </a:avLst>
          </a:prstGeom>
          <a:solidFill>
            <a:srgbClr val="E2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5724144" y="1188720"/>
            <a:ext cx="6016752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5586"/>
                </a:solidFill>
                <a:latin typeface="Calibri"/>
              </a:rPr>
              <a:t>How a notice becomes events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669280" y="178308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FFF176"/>
          </a:solidFill>
          <a:ln w="15875">
            <a:solidFill>
              <a:srgbClr val="6E5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262A33"/>
                </a:solidFill>
                <a:latin typeface="Calibri"/>
              </a:rPr>
              <a:t>Paste or share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7269480" y="2057400"/>
            <a:ext cx="457199" cy="73152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5669280" y="246888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FFC4E1"/>
          </a:solidFill>
          <a:ln w="15875">
            <a:solidFill>
              <a:srgbClr val="9221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262A33"/>
                </a:solidFill>
                <a:latin typeface="Calibri"/>
              </a:rPr>
              <a:t>Photo or PDF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7269480" y="2743200"/>
            <a:ext cx="457199" cy="4572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5669280" y="315468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645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262A33"/>
                </a:solidFill>
                <a:latin typeface="Calibri"/>
              </a:rPr>
              <a:t>College email</a:t>
            </a:r>
          </a:p>
        </p:txBody>
      </p:sp>
      <p:cxnSp>
        <p:nvCxnSpPr>
          <p:cNvPr id="17422" name="Connector 17421"/>
          <p:cNvCxnSpPr/>
          <p:nvPr/>
        </p:nvCxnSpPr>
        <p:spPr>
          <a:xfrm flipV="1">
            <a:off x="7269480" y="2788920"/>
            <a:ext cx="457199" cy="64008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5669280" y="384048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11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262A33"/>
                </a:solidFill>
                <a:latin typeface="Calibri"/>
              </a:rPr>
              <a:t>WhatsApp group</a:t>
            </a:r>
          </a:p>
        </p:txBody>
      </p:sp>
      <p:cxnSp>
        <p:nvCxnSpPr>
          <p:cNvPr id="17424" name="Connector 17423"/>
          <p:cNvCxnSpPr/>
          <p:nvPr/>
        </p:nvCxnSpPr>
        <p:spPr>
          <a:xfrm flipV="1">
            <a:off x="7269480" y="2788920"/>
            <a:ext cx="457199" cy="132588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Rounded Rectangle 17424"/>
          <p:cNvSpPr/>
          <p:nvPr/>
        </p:nvSpPr>
        <p:spPr>
          <a:xfrm>
            <a:off x="7726679" y="224028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Reading rules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  <a:latin typeface="Calibri"/>
              </a:rPr>
              <a:t>find dates, times and rooms; keep a reason for each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9921240" y="1783080"/>
            <a:ext cx="1856231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400" b="1">
                <a:solidFill>
                  <a:srgbClr val="1E6B34"/>
                </a:solidFill>
                <a:latin typeface="Calibri"/>
              </a:rPr>
              <a:t>Sure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262A33"/>
                </a:solidFill>
                <a:latin typeface="Calibri"/>
              </a:rPr>
              <a:t>added, with Undo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9921240" y="2880360"/>
            <a:ext cx="1856231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9A5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400" b="1">
                <a:solidFill>
                  <a:srgbClr val="9A5B00"/>
                </a:solidFill>
                <a:latin typeface="Calibri"/>
              </a:rPr>
              <a:t>Not sure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262A33"/>
                </a:solidFill>
                <a:latin typeface="Calibri"/>
              </a:rPr>
              <a:t>asks you first</a:t>
            </a:r>
          </a:p>
        </p:txBody>
      </p:sp>
      <p:cxnSp>
        <p:nvCxnSpPr>
          <p:cNvPr id="17428" name="Connector 17427"/>
          <p:cNvCxnSpPr/>
          <p:nvPr/>
        </p:nvCxnSpPr>
        <p:spPr>
          <a:xfrm flipV="1">
            <a:off x="9555480" y="2212848"/>
            <a:ext cx="365760" cy="438912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9" name="Connector 17428"/>
          <p:cNvCxnSpPr/>
          <p:nvPr/>
        </p:nvCxnSpPr>
        <p:spPr>
          <a:xfrm>
            <a:off x="9555480" y="2926080"/>
            <a:ext cx="365760" cy="38404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7726679" y="41605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400" b="1">
                <a:solidFill>
                  <a:srgbClr val="1F497D"/>
                </a:solidFill>
                <a:latin typeface="Calibri"/>
              </a:rPr>
              <a:t>Clash check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262A33"/>
                </a:solidFill>
                <a:latin typeface="Calibri"/>
              </a:rPr>
              <a:t>two events at once? a deadline in a class?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8641080" y="3337560"/>
            <a:ext cx="0" cy="82296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2" name="Rounded Rectangle 17431"/>
          <p:cNvSpPr/>
          <p:nvPr/>
        </p:nvSpPr>
        <p:spPr>
          <a:xfrm>
            <a:off x="9921240" y="4160520"/>
            <a:ext cx="18562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400" b="1">
                <a:solidFill>
                  <a:srgbClr val="1F497D"/>
                </a:solidFill>
                <a:latin typeface="Calibri"/>
              </a:rPr>
              <a:t>Calendar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262A33"/>
                </a:solidFill>
                <a:latin typeface="Calibri"/>
              </a:rPr>
              <a:t>Google, phone or .ics file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9555480" y="4617720"/>
            <a:ext cx="36576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TextBox 17433"/>
          <p:cNvSpPr txBox="1"/>
          <p:nvPr/>
        </p:nvSpPr>
        <p:spPr>
          <a:xfrm>
            <a:off x="5669280" y="5257800"/>
            <a:ext cx="6108192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62A33"/>
                </a:solidFill>
                <a:latin typeface="Calibri"/>
              </a:rPr>
              <a:t>Dashed boxes need a one-time install: the Gmail script or the Android app.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62A33"/>
                </a:solidFill>
                <a:latin typeface="Calibri"/>
              </a:rPr>
              <a:t>Adding the same notice twice </a:t>
            </a:r>
            <a:r>
              <a:rPr sz="1300" b="1">
                <a:solidFill>
                  <a:srgbClr val="262A33"/>
                </a:solidFill>
                <a:highlight>
                  <a:srgbClr val="B8E4FF"/>
                </a:highlight>
                <a:latin typeface="Calibri"/>
              </a:rPr>
              <a:t>updates the events</a:t>
            </a:r>
            <a:r>
              <a:rPr sz="1300" b="0">
                <a:solidFill>
                  <a:srgbClr val="262A33"/>
                </a:solidFill>
                <a:latin typeface="Calibri"/>
              </a:rPr>
              <a:t>. It does not make copies.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ounded Rectangle 17409"/>
          <p:cNvSpPr/>
          <p:nvPr/>
        </p:nvSpPr>
        <p:spPr>
          <a:xfrm>
            <a:off x="2617666" y="658368"/>
            <a:ext cx="6011787" cy="164592"/>
          </a:xfrm>
          <a:prstGeom prst="roundRect">
            <a:avLst>
              <a:gd name="adj" fmla="val 50000"/>
            </a:avLst>
          </a:prstGeom>
          <a:solidFill>
            <a:srgbClr val="B9F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SCOPE AND FEASIBILITY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@SETU 2026  PS-02 Idea Submission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500"/>
              <a:t>Nova Nexus</a:t>
            </a:r>
            <a:endParaRPr lang="en-IN" dirty="0"/>
          </a:p>
        </p:txBody>
      </p:sp>
      <p:sp>
        <p:nvSpPr>
          <p:cNvPr id="17411" name="TextBox 17410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88720"/>
            <a:ext cx="5257800" cy="384048"/>
          </a:xfrm>
          <a:prstGeom prst="roundRect">
            <a:avLst>
              <a:gd name="adj" fmla="val 18000"/>
            </a:avLst>
          </a:prstGeom>
          <a:solidFill>
            <a:srgbClr val="E3F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66344" y="1188720"/>
            <a:ext cx="516636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6116"/>
                </a:solidFill>
                <a:latin typeface="Calibri"/>
              </a:rPr>
              <a:t>What is ready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1719072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500" b="1">
                <a:solidFill>
                  <a:srgbClr val="1E6B34"/>
                </a:solidFill>
                <a:latin typeface="Calibri"/>
              </a:rPr>
              <a:t>Works now on the website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62A33"/>
                </a:solidFill>
                <a:latin typeface="Calibri"/>
              </a:rPr>
              <a:t>Paste or share a notice, a photo or a PDF. Events with reasons, clash check, review before export, .ics file, Hindi and Hinglish times. A class calendar link: the class rep publishes, the class subscribes.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11480" y="3200400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9A5B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500" b="1">
                <a:solidFill>
                  <a:srgbClr val="9A5B00"/>
                </a:solidFill>
                <a:latin typeface="Calibri"/>
              </a:rPr>
              <a:t>Built, needs a one-time install or sign-in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62A33"/>
                </a:solidFill>
                <a:latin typeface="Calibri"/>
              </a:rPr>
              <a:t>Google Calendar in one tap (Google sign-in), college email (Gmail script), WhatsApp group reading (Android app), Chrome extension.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11480" y="4681728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500" b="1">
                <a:solidFill>
                  <a:srgbClr val="1F497D"/>
                </a:solidFill>
                <a:latin typeface="Calibri"/>
              </a:rPr>
              <a:t>Next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62A33"/>
                </a:solidFill>
                <a:latin typeface="Calibri"/>
              </a:rPr>
              <a:t>Try it with one real class for a term. Read more notice styles. Handle spelling mistakes.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943600" y="1188720"/>
            <a:ext cx="5833872" cy="384048"/>
          </a:xfrm>
          <a:prstGeom prst="roundRect">
            <a:avLst>
              <a:gd name="adj" fmla="val 18000"/>
            </a:avLst>
          </a:prstGeom>
          <a:solidFill>
            <a:srgbClr val="E3F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5998464" y="1188720"/>
            <a:ext cx="5742432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6116"/>
                </a:solidFill>
                <a:latin typeface="Calibri"/>
              </a:rPr>
              <a:t>Problems we expect, and our plan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943600" y="1737360"/>
            <a:ext cx="26060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B42318"/>
                </a:solidFill>
                <a:latin typeface="Calibri"/>
              </a:rPr>
              <a:t>A long notice is cut off in a phone notification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8567928" y="2185415"/>
            <a:ext cx="32004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8915400" y="1737360"/>
            <a:ext cx="2862072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1E6B34"/>
                </a:solidFill>
                <a:latin typeface="Calibri"/>
              </a:rPr>
              <a:t>Share or paste the full text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943600" y="2816352"/>
            <a:ext cx="26060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B42318"/>
                </a:solidFill>
                <a:latin typeface="Calibri"/>
              </a:rPr>
              <a:t>Google updates a shared calendar only every 12 to 24 hours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8567928" y="3264408"/>
            <a:ext cx="32004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ounded Rectangle 17423"/>
          <p:cNvSpPr/>
          <p:nvPr/>
        </p:nvSpPr>
        <p:spPr>
          <a:xfrm>
            <a:off x="8915400" y="2816352"/>
            <a:ext cx="2862072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1E6B34"/>
                </a:solidFill>
                <a:latin typeface="Calibri"/>
              </a:rPr>
              <a:t>One-tap add writes the events at once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5943600" y="3895344"/>
            <a:ext cx="26060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B42318"/>
                </a:solidFill>
                <a:latin typeface="Calibri"/>
              </a:rPr>
              <a:t>iPhone does not let apps read WhatsApp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8567928" y="4343400"/>
            <a:ext cx="32004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8915400" y="3895344"/>
            <a:ext cx="2862072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1E6B34"/>
                </a:solidFill>
                <a:latin typeface="Calibri"/>
              </a:rPr>
              <a:t>On iPhone, paste the notice or use the email script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5943600" y="4974336"/>
            <a:ext cx="26060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B42318"/>
                </a:solidFill>
                <a:latin typeface="Calibri"/>
              </a:rPr>
              <a:t>Spelling mistakes ("tset", "Nvo")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8567928" y="5422392"/>
            <a:ext cx="32004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8915400" y="4974336"/>
            <a:ext cx="2862072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1E6B34"/>
                </a:solidFill>
                <a:latin typeface="Calibri"/>
              </a:rPr>
              <a:t>The date stays empty and export stays locked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ounded Rectangle 17409"/>
          <p:cNvSpPr/>
          <p:nvPr/>
        </p:nvSpPr>
        <p:spPr>
          <a:xfrm>
            <a:off x="2689523" y="658368"/>
            <a:ext cx="5868072" cy="164592"/>
          </a:xfrm>
          <a:prstGeom prst="roundRect">
            <a:avLst>
              <a:gd name="adj" fmla="val 50000"/>
            </a:avLst>
          </a:prstGeom>
          <a:solidFill>
            <a:srgbClr val="FFD5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WHO PAYS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@SETU 2026  PS-02 Idea Submission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500"/>
              <a:t>Nova Nexus</a:t>
            </a:r>
            <a:endParaRPr lang="en-IN" dirty="0"/>
          </a:p>
        </p:txBody>
      </p:sp>
      <p:sp>
        <p:nvSpPr>
          <p:cNvPr id="17411" name="TextBox 17410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88720"/>
            <a:ext cx="5577840" cy="384048"/>
          </a:xfrm>
          <a:prstGeom prst="roundRect">
            <a:avLst>
              <a:gd name="adj" fmla="val 18000"/>
            </a:avLst>
          </a:prstGeom>
          <a:solidFill>
            <a:srgbClr val="FF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66344" y="1188720"/>
            <a:ext cx="548640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864500"/>
                </a:solidFill>
                <a:latin typeface="Calibri"/>
              </a:rPr>
              <a:t>Who gains what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411480" y="1691640"/>
          <a:ext cx="5577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103120"/>
                <a:gridCol w="224028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73152" marR="73152" marT="27432" marB="27432" anchor="ctr">
                    <a:solidFill>
                      <a:srgbClr val="8645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73152" marR="73152" marT="27432" marB="27432" anchor="ctr">
                    <a:solidFill>
                      <a:srgbClr val="8645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With Notice Decoder</a:t>
                      </a:r>
                    </a:p>
                  </a:txBody>
                  <a:tcPr marL="73152" marR="73152" marT="27432" marB="27432" anchor="ctr">
                    <a:solidFill>
                      <a:srgbClr val="8645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Reads a long paragraph, misses a date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Gets the dates in the calendar; checks only the unsure ones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Class rep</a:t>
                      </a:r>
                    </a:p>
                  </a:txBody>
                  <a:tcPr marL="73152" marR="73152" marT="27432" marB="27432" anchor="ctr">
                    <a:solidFill>
                      <a:srgbClr val="FFEE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Forwards every notice by hand</a:t>
                      </a:r>
                    </a:p>
                  </a:txBody>
                  <a:tcPr marL="73152" marR="73152" marT="27432" marB="27432" anchor="ctr">
                    <a:solidFill>
                      <a:srgbClr val="FFEE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Publishes once; the class subscribes once</a:t>
                      </a:r>
                    </a:p>
                  </a:txBody>
                  <a:tcPr marL="73152" marR="73152" marT="27432" marB="27432" anchor="ctr">
                    <a:solidFill>
                      <a:srgbClr val="FFEE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Department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Finds clashes too late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Sees every clash in the term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5" name="TextBox 17414"/>
          <p:cNvSpPr txBox="1"/>
          <p:nvPr/>
        </p:nvSpPr>
        <p:spPr>
          <a:xfrm>
            <a:off x="411480" y="4206240"/>
            <a:ext cx="5577840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For scale:</a:t>
            </a:r>
            <a:r>
              <a:rPr sz="1400" b="0">
                <a:solidFill>
                  <a:srgbClr val="262A33"/>
                </a:solidFill>
                <a:latin typeface="Calibri"/>
              </a:rPr>
              <a:t> Fedena, a full college ERP, lists $999 to $1,699 a year for a whole college. One feature for one department must cost far less.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Where we are:</a:t>
            </a:r>
            <a:r>
              <a:rPr sz="1400" b="0">
                <a:solidFill>
                  <a:srgbClr val="262A33"/>
                </a:solidFill>
                <a:latin typeface="Calibri"/>
              </a:rPr>
              <a:t> no college has paid yet.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263640" y="1188720"/>
            <a:ext cx="5513832" cy="384048"/>
          </a:xfrm>
          <a:prstGeom prst="roundRect">
            <a:avLst>
              <a:gd name="adj" fmla="val 18000"/>
            </a:avLst>
          </a:prstGeom>
          <a:solidFill>
            <a:srgbClr val="FF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318503" y="1188720"/>
            <a:ext cx="5422392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864500"/>
                </a:solidFill>
                <a:latin typeface="Calibri"/>
              </a:rPr>
              <a:t>Who pays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6263640" y="1691640"/>
            <a:ext cx="5513832" cy="868680"/>
          </a:xfrm>
          <a:prstGeom prst="rect">
            <a:avLst/>
          </a:prstGeom>
          <a:solidFill>
            <a:srgbClr val="FFD5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/>
            <a:r>
              <a:rPr sz="2400" b="1">
                <a:solidFill>
                  <a:srgbClr val="262A33"/>
                </a:solidFill>
                <a:latin typeface="Calibri"/>
              </a:rPr>
              <a:t>₹2,999 per department per year</a:t>
            </a:r>
          </a:p>
          <a:p>
            <a:r>
              <a:rPr sz="1400" b="0">
                <a:solidFill>
                  <a:srgbClr val="262A33"/>
                </a:solidFill>
                <a:latin typeface="Calibri"/>
              </a:rPr>
              <a:t>our proposed price; the first term is free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263640" y="2697480"/>
            <a:ext cx="5513832" cy="3566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Free for students:</a:t>
            </a:r>
            <a:r>
              <a:rPr sz="1400" b="0">
                <a:solidFill>
                  <a:srgbClr val="262A33"/>
                </a:solidFill>
                <a:latin typeface="Calibri"/>
              </a:rPr>
              <a:t> everything in "Works now". It runs on the phone, so it costs us about ₹0.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Department plan:</a:t>
            </a:r>
            <a:r>
              <a:rPr sz="1400" b="0">
                <a:solidFill>
                  <a:srgbClr val="262A33"/>
                </a:solidFill>
                <a:latin typeface="Calibri"/>
              </a:rPr>
              <a:t> the class rep or a teacher publishes notices, and the HOD pays.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Why pay?</a:t>
            </a:r>
            <a:r>
              <a:rPr sz="1400" b="0">
                <a:solidFill>
                  <a:srgbClr val="262A33"/>
                </a:solidFill>
                <a:latin typeface="Calibri"/>
              </a:rPr>
              <a:t> On WhatsApp, nobody's calendar changes when a date changes. With the plan, it changes </a:t>
            </a:r>
            <a:r>
              <a:rPr sz="1400" b="1">
                <a:solidFill>
                  <a:srgbClr val="262A33"/>
                </a:solidFill>
                <a:highlight>
                  <a:srgbClr val="FFD59C"/>
                </a:highlight>
                <a:latin typeface="Calibri"/>
              </a:rPr>
              <a:t>for the whole class</a:t>
            </a:r>
            <a:r>
              <a:rPr sz="1400" b="0">
                <a:solidFill>
                  <a:srgbClr val="262A33"/>
                </a:solidFill>
                <a:latin typeface="Calibri"/>
              </a:rPr>
              <a:t>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Pilot:</a:t>
            </a:r>
            <a:r>
              <a:rPr sz="1400" b="0">
                <a:solidFill>
                  <a:srgbClr val="262A33"/>
                </a:solidFill>
                <a:latin typeface="Calibri"/>
              </a:rPr>
              <a:t> one department for one term. If the HOD pays for the next term, it works.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ounded Rectangle 17409"/>
          <p:cNvSpPr/>
          <p:nvPr/>
        </p:nvSpPr>
        <p:spPr>
          <a:xfrm>
            <a:off x="2046166" y="658368"/>
            <a:ext cx="7154787" cy="164592"/>
          </a:xfrm>
          <a:prstGeom prst="roundRect">
            <a:avLst>
              <a:gd name="adj" fmla="val 50000"/>
            </a:avLst>
          </a:prstGeom>
          <a:solidFill>
            <a:srgbClr val="DCC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@SETU 2026  PS-02 Idea Submission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500"/>
              <a:t>Nova Nexus</a:t>
            </a:r>
            <a:endParaRPr lang="en-IN" dirty="0"/>
          </a:p>
        </p:txBody>
      </p:sp>
      <p:sp>
        <p:nvSpPr>
          <p:cNvPr id="17411" name="TextBox 17410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88720"/>
            <a:ext cx="7498079" cy="384048"/>
          </a:xfrm>
          <a:prstGeom prst="roundRect">
            <a:avLst>
              <a:gd name="adj" fmla="val 18000"/>
            </a:avLst>
          </a:prstGeom>
          <a:solidFill>
            <a:srgbClr val="F0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66344" y="1188720"/>
            <a:ext cx="740664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B3699"/>
                </a:solidFill>
                <a:latin typeface="Calibri"/>
              </a:rPr>
              <a:t>Other notice tools (we read their code, Oct 2026)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411480" y="169164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73152" marR="73152" marT="27432" marB="27432" anchor="ctr">
                    <a:solidFill>
                      <a:srgbClr val="4B3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Calendar file</a:t>
                      </a:r>
                    </a:p>
                  </a:txBody>
                  <a:tcPr marL="73152" marR="73152" marT="27432" marB="27432" anchor="ctr">
                    <a:solidFill>
                      <a:srgbClr val="4B3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Clash check</a:t>
                      </a:r>
                    </a:p>
                  </a:txBody>
                  <a:tcPr marL="73152" marR="73152" marT="27432" marB="27432" anchor="ctr">
                    <a:solidFill>
                      <a:srgbClr val="4B369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7 notice tools on GitHub, most send the text to an AI model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0 of 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0 of 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edt-tamis: university timetable files, not notices</a:t>
                      </a:r>
                    </a:p>
                  </a:txBody>
                  <a:tcPr marL="73152" marR="73152" marT="27432" marB="27432" anchor="ctr">
                    <a:solidFill>
                      <a:srgbClr val="F0EB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0EB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0EB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Notice Decoder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Yes, with the reason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5" name="Rounded Rectangle 17414"/>
          <p:cNvSpPr/>
          <p:nvPr/>
        </p:nvSpPr>
        <p:spPr>
          <a:xfrm>
            <a:off x="411480" y="3703320"/>
            <a:ext cx="7498079" cy="384048"/>
          </a:xfrm>
          <a:prstGeom prst="roundRect">
            <a:avLst>
              <a:gd name="adj" fmla="val 18000"/>
            </a:avLst>
          </a:prstGeom>
          <a:solidFill>
            <a:srgbClr val="F0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66344" y="3703320"/>
            <a:ext cx="740664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B3699"/>
                </a:solidFill>
                <a:latin typeface="Calibri"/>
              </a:rPr>
              <a:t>Why the problem is real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11480" y="4160520"/>
            <a:ext cx="749807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APSIT Mumbai</a:t>
            </a:r>
            <a:r>
              <a:rPr sz="1300" b="0">
                <a:solidFill>
                  <a:srgbClr val="262A33"/>
                </a:solidFill>
                <a:latin typeface="Calibri"/>
              </a:rPr>
              <a:t> stopped sharing notices in WhatsApp groups because "many students miss important notices" (e-notice board post, 23 Sep 2025).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Jamia Millia Islamia</a:t>
            </a:r>
            <a:r>
              <a:rPr sz="1300" b="0">
                <a:solidFill>
                  <a:srgbClr val="262A33"/>
                </a:solidFill>
                <a:latin typeface="Calibri"/>
              </a:rPr>
              <a:t> keeps academic notices in official class groups run by the class rep (Careers360, 9 Sep 2026).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St Agnes College, Mangaluru</a:t>
            </a:r>
            <a:r>
              <a:rPr sz="1300" b="0">
                <a:solidFill>
                  <a:srgbClr val="262A33"/>
                </a:solidFill>
                <a:latin typeface="Calibri"/>
              </a:rPr>
              <a:t> set semester exams in the Dasara holidays, and students protested (PTI via Careers360, 12 Oct 2026).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Price:</a:t>
            </a:r>
            <a:r>
              <a:rPr sz="1300" b="0">
                <a:solidFill>
                  <a:srgbClr val="262A33"/>
                </a:solidFill>
                <a:latin typeface="Calibri"/>
              </a:rPr>
              <a:t> </a:t>
            </a:r>
            <a:r>
              <a:rPr sz="1300" b="1">
                <a:solidFill>
                  <a:srgbClr val="1F497D"/>
                </a:solidFill>
                <a:latin typeface="Calibri"/>
                <a:hlinkClick r:id="rId4"/>
              </a:rPr>
              <a:t>fedena.com/pricing-and-plans</a:t>
            </a:r>
            <a:r>
              <a:rPr sz="1300" b="0">
                <a:solidFill>
                  <a:srgbClr val="262A33"/>
                </a:solidFill>
                <a:latin typeface="Calibri"/>
              </a:rPr>
              <a:t>.  </a:t>
            </a:r>
            <a:r>
              <a:rPr sz="1300" b="1">
                <a:solidFill>
                  <a:srgbClr val="1F497D"/>
                </a:solidFill>
                <a:latin typeface="Calibri"/>
              </a:rPr>
              <a:t>Problem statement:</a:t>
            </a:r>
            <a:r>
              <a:rPr sz="1300" b="0">
                <a:solidFill>
                  <a:srgbClr val="262A33"/>
                </a:solidFill>
                <a:latin typeface="Calibri"/>
              </a:rPr>
              <a:t> SETU 2026 Forge Realm PS-02.</a:t>
            </a:r>
          </a:p>
        </p:txBody>
      </p:sp>
      <p:pic>
        <p:nvPicPr>
          <p:cNvPr id="17418" name="Picture 17417" descr="qr-demovideo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1371600"/>
            <a:ext cx="1005840" cy="100584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7419" name="TextBox 17418"/>
          <p:cNvSpPr txBox="1"/>
          <p:nvPr/>
        </p:nvSpPr>
        <p:spPr>
          <a:xfrm>
            <a:off x="8046719" y="240487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6"/>
              </a:rPr>
              <a:t>Demo video</a:t>
            </a:r>
            <a:r>
              <a:t> </a:t>
            </a:r>
          </a:p>
        </p:txBody>
      </p:sp>
      <p:pic>
        <p:nvPicPr>
          <p:cNvPr id="17420" name="Picture 17419" descr="qr-website.png">
            <a:hlinkClick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1371600"/>
            <a:ext cx="1005840" cy="100584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7421" name="TextBox 17420"/>
          <p:cNvSpPr txBox="1"/>
          <p:nvPr/>
        </p:nvSpPr>
        <p:spPr>
          <a:xfrm>
            <a:off x="9235440" y="240487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8"/>
              </a:rPr>
              <a:t>Website</a:t>
            </a:r>
            <a:r>
              <a:t> </a:t>
            </a:r>
          </a:p>
        </p:txBody>
      </p:sp>
      <p:pic>
        <p:nvPicPr>
          <p:cNvPr id="17422" name="Picture 17421" descr="qr-github.png">
            <a:hlinkClick r:id="rId10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89919" y="1371600"/>
            <a:ext cx="1005840" cy="100584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7423" name="TextBox 17422"/>
          <p:cNvSpPr txBox="1"/>
          <p:nvPr/>
        </p:nvSpPr>
        <p:spPr>
          <a:xfrm>
            <a:off x="10424159" y="240487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10"/>
              </a:rPr>
              <a:t>GitHub</a:t>
            </a:r>
            <a:r>
              <a:t> 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183879" y="301752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F497D"/>
                </a:solidFill>
                <a:latin typeface="Calibri"/>
                <a:hlinkClick r:id="rId6"/>
              </a:rPr>
              <a:t>youtu.be/joI75POVTr0</a:t>
            </a:r>
            <a:r>
              <a:t> </a:t>
            </a:r>
          </a:p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F497D"/>
                </a:solidFill>
                <a:latin typeface="Calibri"/>
                <a:hlinkClick r:id="rId8"/>
              </a:rPr>
              <a:t>anki1kr.me/NoticeDecoder</a:t>
            </a:r>
            <a:r>
              <a:t> </a:t>
            </a:r>
          </a:p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F497D"/>
                </a:solidFill>
                <a:latin typeface="Calibri"/>
                <a:hlinkClick r:id="rId10"/>
              </a:rPr>
              <a:t>github.com/anki1kr/NoticeDecoder</a:t>
            </a:r>
            <a: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