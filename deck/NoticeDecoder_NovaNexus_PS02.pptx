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anki1kr.me/NoticeDecoder/app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685800"/>
            <a:ext cx="11183112" cy="2331720"/>
          </a:xfrm>
          <a:prstGeom prst="roundRect">
            <a:avLst>
              <a:gd name="adj" fmla="val 7000"/>
            </a:avLst>
          </a:prstGeom>
          <a:solidFill>
            <a:srgbClr val="003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896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Arial"/>
              </a:rPr>
              <a:t>FORGE REALM  PS-02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23444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</a:rPr>
              <a:t>Notice Decoder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104241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A notice lands in the class group. It is in your calendar before you open the chat.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6949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>
                <a:solidFill>
                  <a:srgbClr val="020129"/>
                </a:solidFill>
                <a:latin typeface="Arial"/>
              </a:rPr>
              <a:t>Team </a:t>
            </a:r>
            <a:r>
              <a:rPr sz="2400" b="1">
                <a:solidFill>
                  <a:srgbClr val="020129"/>
                </a:solidFill>
                <a:latin typeface="Arial"/>
              </a:rPr>
              <a:t>Nova Nexus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767328"/>
            <a:ext cx="6949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20129"/>
                </a:solidFill>
                <a:latin typeface="Arial"/>
              </a:rPr>
              <a:t>Ankit Kumar</a:t>
            </a:r>
            <a:r>
              <a:rPr sz="1600" b="0">
                <a:solidFill>
                  <a:srgbClr val="22222E"/>
                </a:solidFill>
                <a:latin typeface="Arial"/>
              </a:rPr>
              <a:t> (Team Leader),  </a:t>
            </a:r>
            <a:r>
              <a:rPr sz="1600" b="1">
                <a:solidFill>
                  <a:srgbClr val="020129"/>
                </a:solidFill>
                <a:latin typeface="Arial"/>
              </a:rPr>
              <a:t>Ankit</a:t>
            </a:r>
            <a:r>
              <a:rPr sz="1600" b="0">
                <a:solidFill>
                  <a:srgbClr val="22222E"/>
                </a:solidFill>
                <a:latin typeface="Arial"/>
              </a:rPr>
              <a:t>,  </a:t>
            </a:r>
            <a:r>
              <a:rPr sz="1600" b="1">
                <a:solidFill>
                  <a:srgbClr val="020129"/>
                </a:solidFill>
                <a:latin typeface="Arial"/>
              </a:rPr>
              <a:t>Ashwani Tanwar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343400"/>
            <a:ext cx="704088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0033EE"/>
                </a:solidFill>
                <a:latin typeface="Arial"/>
              </a:rPr>
              <a:t>Rules that show their reasons.</a:t>
            </a:r>
            <a:r>
              <a:rPr sz="1500" b="0">
                <a:solidFill>
                  <a:srgbClr val="22222E"/>
                </a:solidFill>
                <a:latin typeface="Arial"/>
              </a:rPr>
              <a:t> Every date, time and place points to the exact words it came from.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0033EE"/>
                </a:solidFill>
                <a:latin typeface="Arial"/>
              </a:rPr>
              <a:t>Zero-touch.</a:t>
            </a:r>
            <a:r>
              <a:rPr sz="1500" b="0">
                <a:solidFill>
                  <a:srgbClr val="22222E"/>
                </a:solidFill>
                <a:latin typeface="Arial"/>
              </a:rPr>
              <a:t> WhatsApp group, college email or the share sheet feed the same rules; certain events go straight into the calendar, the student is asked only about an uncertain field.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0033EE"/>
                </a:solidFill>
                <a:latin typeface="Arial"/>
              </a:rPr>
              <a:t>Runs on the device:</a:t>
            </a:r>
            <a:r>
              <a:rPr sz="1500" b="0">
                <a:solidFill>
                  <a:srgbClr val="22222E"/>
                </a:solidFill>
                <a:latin typeface="Arial"/>
              </a:rPr>
              <a:t> offline, the notice never leaves the phone, </a:t>
            </a:r>
            <a:r>
              <a:rPr sz="1500" b="1">
                <a:solidFill>
                  <a:srgbClr val="0033EE"/>
                </a:solidFill>
                <a:latin typeface="Arial"/>
              </a:rPr>
              <a:t>₹0</a:t>
            </a:r>
            <a:r>
              <a:rPr sz="1500" b="0">
                <a:solidFill>
                  <a:srgbClr val="22222E"/>
                </a:solidFill>
                <a:latin typeface="Arial"/>
              </a:rPr>
              <a:t> per notice.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18120" y="3310128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3 of 3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events right on the PS-02 example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811512" y="3310128"/>
            <a:ext cx="1874519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600" b="1">
                <a:solidFill>
                  <a:srgbClr val="0033EE"/>
                </a:solidFill>
                <a:latin typeface="Arial"/>
              </a:rPr>
              <a:t>73 of 73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browser checks pass at phone width</a:t>
            </a:r>
          </a:p>
        </p:txBody>
      </p:sp>
      <p:pic>
        <p:nvPicPr>
          <p:cNvPr id="16" name="Picture 15" descr="qr-live.png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4773168"/>
            <a:ext cx="1325880" cy="1325880"/>
          </a:xfrm>
          <a:prstGeom prst="rect">
            <a:avLst/>
          </a:prstGeom>
          <a:ln w="9525">
            <a:solidFill>
              <a:srgbClr val="D5D8E3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9464040" y="4846320"/>
            <a:ext cx="228600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Live demo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22222E"/>
                </a:solidFill>
                <a:latin typeface="Arial"/>
              </a:rPr>
              <a:t>Scan, or open:</a:t>
            </a:r>
          </a:p>
          <a:p>
            <a:r>
              <a:rPr sz="1300" b="1">
                <a:solidFill>
                  <a:srgbClr val="0033EE"/>
                </a:solidFill>
                <a:latin typeface="Arial"/>
                <a:hlinkClick r:id="rId3"/>
              </a:rPr>
              <a:t>anki1kr.me/NoticeDecoder/app</a:t>
            </a:r>
            <a:r>
              <a:t> 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01</a:t>
            </a:r>
            <a:r>
              <a:rPr sz="2800" b="1">
                <a:solidFill>
                  <a:srgbClr val="020129"/>
                </a:solidFill>
                <a:latin typeface="Arial"/>
              </a:rPr>
              <a:t>  The problem, and the PS-02 example answered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Dates, times and rooms hide inside paragraphs. Students miss them, or find the clash too late.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600200"/>
            <a:ext cx="53949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91640"/>
            <a:ext cx="5029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400" b="1">
                <a:solidFill>
                  <a:srgbClr val="22222E"/>
                </a:solidFill>
                <a:latin typeface="Arial"/>
              </a:rPr>
              <a:t>NOTICE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03120"/>
            <a:ext cx="4983480" cy="2651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2222E"/>
                </a:solidFill>
                <a:latin typeface="Arial"/>
              </a:rPr>
              <a:t>All III-year CSE students: Internal Test 2 will be held on 13 Nov 2026 from 10:00 AM to 11:30 AM in Room 204. Lab records must be submitted to the department office by 12:00 noon on 13 Nov. A guest lecture on "AI in Healthcare" is scheduled on 13 Nov, 11:00 AM to 12:30 PM, Seminar Hall.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9377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020129"/>
                </a:solidFill>
                <a:latin typeface="Arial"/>
              </a:rPr>
              <a:t>Students miss notices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APSIT Mumbai pulled notices out of WhatsApp groups: "many students miss important notices".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4937760"/>
            <a:ext cx="260604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020129"/>
                </a:solidFill>
                <a:latin typeface="Arial"/>
              </a:rPr>
              <a:t>The class rep carries them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Jamia keeps academic notices in official class groups run by the class representative.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217920" y="1600200"/>
          <a:ext cx="5468112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777240"/>
                <a:gridCol w="914400"/>
                <a:gridCol w="1078992"/>
                <a:gridCol w="86868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Detected event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Type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Date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Time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Venue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Internal Test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Test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13 Nov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10:00 AM – 11:30 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Room 204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Lab record submission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Deadline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13 Nov 2026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by 12:00 PM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Department office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Guest lecture: AI in Healthcare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Lecture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13 Nov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11:00 AM – 12:30 PM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2222E"/>
                          </a:solidFill>
                          <a:latin typeface="Arial"/>
                        </a:rPr>
                        <a:t>Seminar Hall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6217920" y="3429000"/>
            <a:ext cx="5468112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C61F1F"/>
                </a:solidFill>
                <a:latin typeface="Arial"/>
              </a:rPr>
              <a:t>Clash: 30 minutes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Test and guest lecture overlap 11:00 to 11:30 AM.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215384"/>
            <a:ext cx="5468112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C61F1F"/>
                </a:solidFill>
                <a:latin typeface="Arial"/>
              </a:rPr>
              <a:t>Clash: deadline inside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The 12:00 PM deadline falls during the lecture.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5001768"/>
            <a:ext cx="5468112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157A3A"/>
                </a:solidFill>
                <a:latin typeface="Arial"/>
              </a:rPr>
              <a:t>No clash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The test ends at 11:30 AM, before the deadline.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5833872"/>
            <a:ext cx="5468112" cy="50292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00" b="1">
                <a:solidFill>
                  <a:srgbClr val="020129"/>
                </a:solidFill>
                <a:latin typeface="Arial"/>
              </a:rPr>
              <a:t>Action: finish the lab record before 10:00 AM, or ask the coordinator about the lecture.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02</a:t>
            </a:r>
            <a:r>
              <a:rPr sz="2800" b="1">
                <a:solidFill>
                  <a:srgbClr val="020129"/>
                </a:solidFill>
                <a:latin typeface="Arial"/>
              </a:rPr>
              <a:t>  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The real app on the PS-02 example. The answer first, a reason for every field, a form only where there is a doubt.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pic>
        <p:nvPicPr>
          <p:cNvPr id="9" name="Picture 8" descr="shot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7040880" cy="3737995"/>
          </a:xfrm>
          <a:prstGeom prst="rect">
            <a:avLst/>
          </a:prstGeom>
          <a:ln w="12700">
            <a:solidFill>
              <a:srgbClr val="D5D8E3"/>
            </a:solidFill>
          </a:ln>
        </p:spPr>
      </p:pic>
      <p:sp>
        <p:nvSpPr>
          <p:cNvPr id="10" name="Oval 9"/>
          <p:cNvSpPr/>
          <p:nvPr/>
        </p:nvSpPr>
        <p:spPr>
          <a:xfrm>
            <a:off x="7273594" y="1607015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1" name="Oval 10"/>
          <p:cNvSpPr/>
          <p:nvPr/>
        </p:nvSpPr>
        <p:spPr>
          <a:xfrm>
            <a:off x="7273594" y="2859606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2" name="Oval 11"/>
          <p:cNvSpPr/>
          <p:nvPr/>
        </p:nvSpPr>
        <p:spPr>
          <a:xfrm>
            <a:off x="7273594" y="4131974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Oval 12"/>
          <p:cNvSpPr/>
          <p:nvPr/>
        </p:nvSpPr>
        <p:spPr>
          <a:xfrm>
            <a:off x="7062368" y="4923084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4" name="Oval 13"/>
          <p:cNvSpPr/>
          <p:nvPr/>
        </p:nvSpPr>
        <p:spPr>
          <a:xfrm>
            <a:off x="7818120" y="1655064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1600200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One-line answer first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3 events found. 2 clashes. Nothing to check.</a:t>
            </a:r>
          </a:p>
        </p:txBody>
      </p:sp>
      <p:sp>
        <p:nvSpPr>
          <p:cNvPr id="16" name="Oval 15"/>
          <p:cNvSpPr/>
          <p:nvPr/>
        </p:nvSpPr>
        <p:spPr>
          <a:xfrm>
            <a:off x="7818120" y="2423160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2368296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Highlighter colours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Each event's words in the notice, in its own colour; "Show in notice" lights them up.</a:t>
            </a:r>
          </a:p>
        </p:txBody>
      </p:sp>
      <p:sp>
        <p:nvSpPr>
          <p:cNvPr id="18" name="Oval 17"/>
          <p:cNvSpPr/>
          <p:nvPr/>
        </p:nvSpPr>
        <p:spPr>
          <a:xfrm>
            <a:off x="7818120" y="3191256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3136391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Clean events are one line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Nothing to fill in. Edit opens the full card if you want it.</a:t>
            </a:r>
          </a:p>
        </p:txBody>
      </p:sp>
      <p:sp>
        <p:nvSpPr>
          <p:cNvPr id="20" name="Oval 19"/>
          <p:cNvSpPr/>
          <p:nvPr/>
        </p:nvSpPr>
        <p:spPr>
          <a:xfrm>
            <a:off x="7818120" y="3959351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904487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Only doubts open a form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An amber field blocks export until fixed or marked "Looks right".</a:t>
            </a:r>
          </a:p>
        </p:txBody>
      </p:sp>
      <p:sp>
        <p:nvSpPr>
          <p:cNvPr id="22" name="Oval 21"/>
          <p:cNvSpPr/>
          <p:nvPr/>
        </p:nvSpPr>
        <p:spPr>
          <a:xfrm>
            <a:off x="7818120" y="4727447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4672583"/>
            <a:ext cx="35204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One tap to the calendar</a:t>
            </a:r>
          </a:p>
          <a:p>
            <a:pPr algn="l">
              <a:spcAft>
                <a:spcPts val="100"/>
              </a:spcAft>
            </a:pPr>
            <a:r>
              <a:rPr sz="1250" b="0">
                <a:solidFill>
                  <a:srgbClr val="22222E"/>
                </a:solidFill>
                <a:latin typeface="Arial"/>
              </a:rPr>
              <a:t>"Add all to Google Calendar" writes them in; .ics and the class link stay as backups.</a:t>
            </a:r>
          </a:p>
        </p:txBody>
      </p:sp>
      <p:pic>
        <p:nvPicPr>
          <p:cNvPr id="24" name="Picture 23" descr="export-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5486400"/>
            <a:ext cx="3886200" cy="907872"/>
          </a:xfrm>
          <a:prstGeom prst="rect">
            <a:avLst/>
          </a:prstGeom>
          <a:ln w="12700">
            <a:solidFill>
              <a:srgbClr val="D5D8E3"/>
            </a:solidFill>
          </a:ln>
        </p:spPr>
      </p:pic>
      <p:sp>
        <p:nvSpPr>
          <p:cNvPr id="25" name="Oval 24"/>
          <p:cNvSpPr/>
          <p:nvPr/>
        </p:nvSpPr>
        <p:spPr>
          <a:xfrm>
            <a:off x="9208008" y="5866531"/>
            <a:ext cx="329184" cy="329184"/>
          </a:xfrm>
          <a:prstGeom prst="ellipse">
            <a:avLst/>
          </a:prstGeom>
          <a:solidFill>
            <a:srgbClr val="0033EE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03</a:t>
            </a:r>
            <a:r>
              <a:rPr sz="2800" b="1">
                <a:solidFill>
                  <a:srgbClr val="020129"/>
                </a:solidFill>
                <a:latin typeface="Arial"/>
              </a:rPr>
              <a:t>  Zero-touch: four ways in,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Pasting was three steps too many. The student is asked only for the one field that is uncertain.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931920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WhatsApp class group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Android companion reads the group's notifications, decodes on the phone, writes the phone calendar.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633472"/>
            <a:ext cx="3931920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College email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Apps Script in the student's own Gmail, every 15 min, straight into Google Calendar.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621024"/>
            <a:ext cx="3931920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Share or paste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Installed web app sits in WhatsApp's share sheet; decodes on arrival; one tap to Google Calendar.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08576"/>
            <a:ext cx="3931920" cy="87782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0033EE"/>
                </a:solidFill>
                <a:latin typeface="Arial"/>
              </a:rPr>
              <a:t>Class rep publishes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The class subscribes once to a calendar link that updates itself when a notice is revised.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572000" y="3429000"/>
            <a:ext cx="365760" cy="310896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74920" y="2377440"/>
            <a:ext cx="2377440" cy="2377440"/>
          </a:xfrm>
          <a:prstGeom prst="roundRect">
            <a:avLst>
              <a:gd name="adj" fmla="val 8000"/>
            </a:avLst>
          </a:prstGeom>
          <a:solidFill>
            <a:srgbClr val="003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12080" y="2514600"/>
            <a:ext cx="21031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1">
                <a:solidFill>
                  <a:srgbClr val="FFFFFF"/>
                </a:solidFill>
                <a:latin typeface="Arial"/>
              </a:rPr>
              <a:t>Same rules engine</a:t>
            </a:r>
          </a:p>
          <a:p>
            <a:pPr algn="l">
              <a:spcAft>
                <a:spcPts val="500"/>
              </a:spcAft>
            </a:pPr>
            <a:r>
              <a:rPr sz="1250" b="0">
                <a:solidFill>
                  <a:srgbClr val="FFFFFF"/>
                </a:solidFill>
                <a:latin typeface="Arial"/>
              </a:rPr>
              <a:t>Dates, times, venues, clashes, a "why" for every field. One mapping to calendar UIDs, so adding twice updates, never duplicates.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589520" y="3429000"/>
            <a:ext cx="365760" cy="310896"/>
          </a:xfrm>
          <a:prstGeom prst="rightArrow">
            <a:avLst/>
          </a:prstGeom>
          <a:solidFill>
            <a:srgbClr val="9AA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92440" y="1645920"/>
            <a:ext cx="35935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157A3A"/>
                </a:solidFill>
                <a:latin typeface="Arial"/>
              </a:rPr>
              <a:t>Nothing uncertain → added, with Undo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Notification: "Added 3 events". Google Calendar, the phone calendar or the class feed.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2440" y="3154680"/>
            <a:ext cx="359359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400" b="1">
                <a:solidFill>
                  <a:srgbClr val="B45309"/>
                </a:solidFill>
                <a:latin typeface="Arial"/>
              </a:rPr>
              <a:t>An amber field → ask for that one only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"Thursday, but 13 Nov 2026 is a Friday." Looks right, or fix it. PS-02's review rule, kept.</a:t>
            </a:r>
          </a:p>
        </p:txBody>
      </p:sp>
      <p:pic>
        <p:nvPicPr>
          <p:cNvPr id="19" name="Picture 18" descr="phone-amber-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663440"/>
            <a:ext cx="3593592" cy="1626151"/>
          </a:xfrm>
          <a:prstGeom prst="rect">
            <a:avLst/>
          </a:prstGeom>
          <a:ln w="12700">
            <a:solidFill>
              <a:srgbClr val="D5D8E3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502920" y="5669280"/>
            <a:ext cx="6949440" cy="777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Honest limits:</a:t>
            </a:r>
            <a:r>
              <a:rPr sz="1250" b="0">
                <a:solidFill>
                  <a:srgbClr val="22222E"/>
                </a:solidFill>
                <a:latin typeface="Arial"/>
              </a:rPr>
              <a:t> a notification can truncate a very long notice (the share sheet is the fallback); Google refreshes subscribed feeds in 12 to 24 hours; the companion app is Android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04</a:t>
            </a:r>
            <a:r>
              <a:rPr sz="2800" b="1">
                <a:solidFill>
                  <a:srgbClr val="020129"/>
                </a:solidFill>
                <a:latin typeface="Arial"/>
              </a:rPr>
              <a:t>  Rules for real notices, tested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Written for the way Indian college notices are really written. Each line below is a test that runs on every push.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45920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"04/05/2027"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Day first, 4 May; asks if it means 5 April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59" y="1645920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"Thursday, 13 Nov 2026"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13 Nov is a Friday: asks which one is right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32304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"today's drive" + "Date: 05 Oct"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"today" is the notice's date, not paste day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59" y="2432304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Two exams, both at 10 AM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Two events and a clash, never one merged card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218688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"POSTPONED to 20 Nov"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Moves the event, shows the old date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51959" y="3218688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"13 Nov - DBMS - 10 AM to 1 PM - Room 101"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Timetable rows: subject, kind, room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005072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"available 1:30pm-5pm, 60 min"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A window: "take it 1:30 to 2:30 PM", not a clash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59" y="4005072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"7/10 marks", "Unit 3/4"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Not dates. "2026-11-20", "0700 hrs", "by EOD" are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791456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"this week or next week"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Not scheduled yet; never a made-up date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51959" y="4791456"/>
            <a:ext cx="3611880" cy="69494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250" b="1">
                <a:solidFill>
                  <a:srgbClr val="020129"/>
                </a:solidFill>
                <a:latin typeface="Arial"/>
              </a:rPr>
              <a:t>गणित की परीक्षा 13 नवंबर सुबह 10 बजे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Hindi months, times, event words and rooms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164592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800" b="1">
                <a:solidFill>
                  <a:srgbClr val="0033EE"/>
                </a:solidFill>
                <a:latin typeface="Arial"/>
              </a:rPr>
              <a:t>32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engine tests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948672" y="164592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800" b="1">
                <a:solidFill>
                  <a:srgbClr val="0033EE"/>
                </a:solidFill>
                <a:latin typeface="Arial"/>
              </a:rPr>
              <a:t>73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browser checks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92440" y="297180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400" b="1">
                <a:solidFill>
                  <a:srgbClr val="0033EE"/>
                </a:solidFill>
                <a:latin typeface="Arial"/>
              </a:rPr>
              <a:t>9+7+5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feed, Gmail, app tests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8672" y="2971800"/>
            <a:ext cx="1737360" cy="118872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2800" b="1">
                <a:solidFill>
                  <a:srgbClr val="0033EE"/>
                </a:solidFill>
                <a:latin typeface="Arial"/>
              </a:rPr>
              <a:t>6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real notices as fixtures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2440" y="4343400"/>
            <a:ext cx="3593592" cy="1234440"/>
          </a:xfrm>
          <a:prstGeom prst="roundRect">
            <a:avLst>
              <a:gd name="adj" fmla="val 6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300" b="1">
                <a:solidFill>
                  <a:srgbClr val="020129"/>
                </a:solidFill>
                <a:latin typeface="Arial"/>
              </a:rPr>
              <a:t>Why rules, not AI</a:t>
            </a:r>
          </a:p>
          <a:p>
            <a:pPr algn="l">
              <a:spcBef>
                <a:spcPts val="300"/>
              </a:spcBef>
            </a:pPr>
            <a:r>
              <a:rPr sz="1150" b="0">
                <a:solidFill>
                  <a:srgbClr val="22222E"/>
                </a:solidFill>
                <a:latin typeface="Arial"/>
              </a:rPr>
              <a:t>Same answer every time, a reason for every field, nothing sent anywhere, ₹0 per notice. Seven public notice tools we read send the text to a model and check no clashes.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69280"/>
            <a:ext cx="1115568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>
                <a:solidFill>
                  <a:srgbClr val="020129"/>
                </a:solidFill>
                <a:latin typeface="Arial"/>
              </a:rPr>
              <a:t>Not done yet:</a:t>
            </a:r>
            <a:r>
              <a:rPr sz="1250" b="0">
                <a:solidFill>
                  <a:srgbClr val="22222E"/>
                </a:solidFill>
                <a:latin typeface="Arial"/>
              </a:rPr>
              <a:t> photos of notices, spelling mistakes ("tset", "Nvo" leave the date empty and keep export locked), iPhone notification reading (iOS does not allow it).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>
                <a:solidFill>
                  <a:srgbClr val="22222E"/>
                </a:solidFill>
                <a:latin typeface="Arial"/>
              </a:rPr>
              <a:t>SETU 2026</a:t>
            </a:r>
            <a:r>
              <a:rPr sz="1200" b="0">
                <a:solidFill>
                  <a:srgbClr val="5E6070"/>
                </a:solidFill>
                <a:latin typeface="Arial"/>
              </a:rPr>
              <a:t>  Forge Realm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0" y="201168"/>
            <a:ext cx="54864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1">
                <a:solidFill>
                  <a:srgbClr val="0033EE"/>
                </a:solidFill>
                <a:latin typeface="Arial"/>
              </a:rPr>
              <a:t>PS-02  NOTICE DECODER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1115568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0033EE"/>
                </a:solidFill>
                <a:latin typeface="Arial"/>
              </a:rPr>
              <a:t>05</a:t>
            </a:r>
            <a:r>
              <a:rPr sz="2800" b="1">
                <a:solidFill>
                  <a:srgbClr val="020129"/>
                </a:solidFill>
                <a:latin typeface="Arial"/>
              </a:rPr>
              <a:t>  Who pays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115568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5E6070"/>
                </a:solidFill>
                <a:latin typeface="Arial"/>
              </a:rPr>
              <a:t>Free for every student. The department pays for the class calendar that saves the class rep's time.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0201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537960"/>
            <a:ext cx="822960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Team </a:t>
            </a:r>
            <a:r>
              <a:rPr sz="1200" b="1">
                <a:solidFill>
                  <a:srgbClr val="FFFFFF"/>
                </a:solidFill>
                <a:latin typeface="Arial"/>
              </a:rPr>
              <a:t>Nova Nexus</a:t>
            </a:r>
            <a:r>
              <a:rPr sz="1200" b="0">
                <a:solidFill>
                  <a:srgbClr val="FFFFFF"/>
                </a:solidFill>
                <a:latin typeface="Arial"/>
              </a:rPr>
              <a:t>   |   SETU 2026 Forge Realm   |   PS-02 Notice Decoder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37960"/>
            <a:ext cx="822960" cy="29260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45920"/>
          <a:ext cx="11183112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645920"/>
                <a:gridCol w="1828800"/>
                <a:gridCol w="4325112"/>
                <a:gridCol w="1828800"/>
              </a:tblGrid>
              <a:tr h="36576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Plan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Who uses it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Who pays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What they get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Our cost</a:t>
                      </a:r>
                    </a:p>
                  </a:txBody>
                  <a:tcPr marL="73152" marR="73152" marT="36576" marB="36576">
                    <a:solidFill>
                      <a:srgbClr val="02012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Every student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Nobody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Paste, share or auto-read from a group; check only amber fields; clashes; Google Calendar one tap, .ics, class link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About ₹0: runs on the phone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Department plan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Class rep or teacher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Department; HOD signs off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Publish once; the class subscribes once; the calendar updates itself when a notice is revised; clash report across the term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22222E"/>
                          </a:solidFill>
                          <a:latin typeface="Arial"/>
                        </a:rPr>
                        <a:t>One free-tier Worker and storage</a:t>
                      </a:r>
                    </a:p>
                  </a:txBody>
                  <a:tcPr marL="73152" marR="73152" marT="36576" marB="36576">
                    <a:solidFill>
                      <a:srgbClr val="F6F7FB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3520440"/>
            <a:ext cx="3017520" cy="146304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3000" b="1">
                <a:solidFill>
                  <a:srgbClr val="0033EE"/>
                </a:solidFill>
                <a:latin typeface="Arial"/>
              </a:rPr>
              <a:t>₹2,999</a:t>
            </a:r>
          </a:p>
          <a:p>
            <a:pPr algn="ctr"/>
            <a:r>
              <a:rPr sz="1300" b="0">
                <a:solidFill>
                  <a:srgbClr val="22222E"/>
                </a:solidFill>
                <a:latin typeface="Arial"/>
              </a:rPr>
              <a:t>per department per year (proposed), first term free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03320" y="3520440"/>
            <a:ext cx="388620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Why pay when WhatsApp is free?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Today the class rep forwards every notice by hand and nobody's calendar moves when a date changes. The plan publishes once, moves it for everyone, and catches term-wide clashes.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0" y="3520440"/>
            <a:ext cx="3913632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D5D8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54864" bIns="54864"/>
          <a:lstStyle/>
          <a:p>
            <a:pPr algn="l"/>
            <a:r>
              <a:rPr sz="1500" b="1">
                <a:solidFill>
                  <a:srgbClr val="020129"/>
                </a:solidFill>
                <a:latin typeface="Arial"/>
              </a:rPr>
              <a:t>Pilot: one department, one term</a:t>
            </a:r>
          </a:p>
          <a:p>
            <a:pPr algn="l">
              <a:spcBef>
                <a:spcPts val="300"/>
              </a:spcBef>
            </a:pPr>
            <a:r>
              <a:rPr sz="1200" b="0">
                <a:solidFill>
                  <a:srgbClr val="22222E"/>
                </a:solidFill>
                <a:latin typeface="Arial"/>
              </a:rPr>
              <a:t>Count notices published and clashes caught. It works if the HOD pays for the next term. The free link version already works today.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212080"/>
            <a:ext cx="11183112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For scale:</a:t>
            </a:r>
            <a:r>
              <a:rPr sz="1400" b="0">
                <a:solidFill>
                  <a:srgbClr val="22222E"/>
                </a:solidFill>
                <a:latin typeface="Arial"/>
              </a:rPr>
              <a:t> Fedena, a full college ERP, lists $999 to $1,699 a year for a whole college, so one feature for one department must cost far less.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020129"/>
                </a:solidFill>
                <a:latin typeface="Arial"/>
              </a:rPr>
              <a:t>Honest status:</a:t>
            </a:r>
            <a:r>
              <a:rPr sz="1400" b="0">
                <a:solidFill>
                  <a:srgbClr val="22222E"/>
                </a:solidFill>
                <a:latin typeface="Arial"/>
              </a:rPr>
              <a:t> no college has paid yet. Built and tested: web app, class feed, Gmail script, Android companion; 32 + 9 + 7 + 5 engine and integration tests, 73 browser checks, CI on every push.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