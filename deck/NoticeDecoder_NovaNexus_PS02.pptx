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nki1kr.me/NoticeDecoder/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685800"/>
            <a:ext cx="11183112" cy="2331720"/>
          </a:xfrm>
          <a:prstGeom prst="roundRect">
            <a:avLst>
              <a:gd name="adj" fmla="val 7000"/>
            </a:avLst>
          </a:prstGeom>
          <a:solidFill>
            <a:srgbClr val="003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896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FORGE REALM  PS-02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Notice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Paste a messy college notice. Get clear events, catch clashes, add them to your calendar.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694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020129"/>
                </a:solidFill>
                <a:latin typeface="Arial"/>
              </a:rPr>
              <a:t>Team </a:t>
            </a:r>
            <a:r>
              <a:rPr sz="2400" b="1">
                <a:solidFill>
                  <a:srgbClr val="020129"/>
                </a:solidFill>
                <a:latin typeface="Arial"/>
              </a:rPr>
              <a:t>Nova Nexus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67328"/>
            <a:ext cx="6949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0129"/>
                </a:solidFill>
                <a:latin typeface="Arial"/>
              </a:rPr>
              <a:t>Ankit Kumar</a:t>
            </a:r>
            <a:r>
              <a:rPr sz="1600" b="0">
                <a:solidFill>
                  <a:srgbClr val="22222E"/>
                </a:solidFill>
                <a:latin typeface="Arial"/>
              </a:rPr>
              <a:t> (Team Leader),  </a:t>
            </a:r>
            <a:r>
              <a:rPr sz="1600" b="1">
                <a:solidFill>
                  <a:srgbClr val="020129"/>
                </a:solidFill>
                <a:latin typeface="Arial"/>
              </a:rPr>
              <a:t>Ankit</a:t>
            </a:r>
            <a:r>
              <a:rPr sz="1600" b="0">
                <a:solidFill>
                  <a:srgbClr val="22222E"/>
                </a:solidFill>
                <a:latin typeface="Arial"/>
              </a:rPr>
              <a:t>,  </a:t>
            </a:r>
            <a:r>
              <a:rPr sz="1600" b="1">
                <a:solidFill>
                  <a:srgbClr val="020129"/>
                </a:solidFill>
                <a:latin typeface="Arial"/>
              </a:rPr>
              <a:t>Ashwani Tanwar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70408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33EE"/>
                </a:solidFill>
                <a:latin typeface="Arial"/>
              </a:rPr>
              <a:t>Rules that show their reasons.</a:t>
            </a:r>
            <a:r>
              <a:rPr sz="1600" b="0">
                <a:solidFill>
                  <a:srgbClr val="22222E"/>
                </a:solidFill>
                <a:latin typeface="Arial"/>
              </a:rPr>
              <a:t> Every date, time and place points to the exact words it came from.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033EE"/>
                </a:solidFill>
                <a:latin typeface="Arial"/>
              </a:rPr>
              <a:t>Runs in the browser:</a:t>
            </a:r>
            <a:r>
              <a:rPr sz="1600" b="0">
                <a:solidFill>
                  <a:srgbClr val="22222E"/>
                </a:solidFill>
                <a:latin typeface="Arial"/>
              </a:rPr>
              <a:t> works offline, the notice never leaves the phone, </a:t>
            </a:r>
            <a:r>
              <a:rPr sz="1600" b="1">
                <a:solidFill>
                  <a:srgbClr val="0033EE"/>
                </a:solidFill>
                <a:latin typeface="Arial"/>
              </a:rPr>
              <a:t>₹0</a:t>
            </a:r>
            <a:r>
              <a:rPr sz="1600" b="0">
                <a:solidFill>
                  <a:srgbClr val="22222E"/>
                </a:solidFill>
                <a:latin typeface="Arial"/>
              </a:rPr>
              <a:t> per notice.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310128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0033EE"/>
                </a:solidFill>
                <a:latin typeface="Arial"/>
              </a:rPr>
              <a:t>3 of 3</a:t>
            </a:r>
          </a:p>
          <a:p>
            <a:pPr algn="ctr"/>
            <a:r>
              <a:rPr sz="1300" b="0">
                <a:solidFill>
                  <a:srgbClr val="22222E"/>
                </a:solidFill>
                <a:latin typeface="Arial"/>
              </a:rPr>
              <a:t>events right on the PS-02 example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11512" y="3310128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400" b="1">
                <a:solidFill>
                  <a:srgbClr val="0033EE"/>
                </a:solidFill>
                <a:latin typeface="Arial"/>
              </a:rPr>
              <a:t>145 of 152</a:t>
            </a:r>
          </a:p>
          <a:p>
            <a:pPr algn="ctr"/>
            <a:r>
              <a:rPr sz="1300" b="0">
                <a:solidFill>
                  <a:srgbClr val="22222E"/>
                </a:solidFill>
                <a:latin typeface="Arial"/>
              </a:rPr>
              <a:t>checks right on 20 new messy notices</a:t>
            </a:r>
          </a:p>
        </p:txBody>
      </p:sp>
      <p:pic>
        <p:nvPicPr>
          <p:cNvPr id="16" name="Picture 15" descr="qr-liv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73168"/>
            <a:ext cx="1325880" cy="1325880"/>
          </a:xfrm>
          <a:prstGeom prst="rect">
            <a:avLst/>
          </a:prstGeom>
          <a:ln w="9525">
            <a:solidFill>
              <a:srgbClr val="D5D8E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9464040" y="4846320"/>
            <a:ext cx="22860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20129"/>
                </a:solidFill>
                <a:latin typeface="Arial"/>
              </a:rPr>
              <a:t>Live demo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E"/>
                </a:solidFill>
                <a:latin typeface="Arial"/>
              </a:rPr>
              <a:t>Scan, or open:</a:t>
            </a:r>
          </a:p>
          <a:p>
            <a:r>
              <a:rPr sz="1300" b="1">
                <a:solidFill>
                  <a:srgbClr val="0033EE"/>
                </a:solidFill>
                <a:latin typeface="Arial"/>
                <a:hlinkClick r:id="rId3"/>
              </a:rPr>
              <a:t>anki1kr.me/NoticeDecoder/app</a:t>
            </a:r>
            <a: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01</a:t>
            </a:r>
            <a:r>
              <a:rPr sz="2800" b="1">
                <a:solidFill>
                  <a:srgbClr val="020129"/>
                </a:solidFill>
                <a:latin typeface="Arial"/>
              </a:rPr>
              <a:t>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Dates, times and rooms hide inside long paragraphs, so students miss them or find clashes too 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394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E"/>
                </a:solidFill>
                <a:latin typeface="Arial"/>
              </a:rPr>
              <a:t>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498348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E"/>
                </a:solidFill>
                <a:latin typeface="Arial"/>
              </a:rPr>
              <a:t>All III-year CSE students: Internal Test 2 will be held on 13 Nov 2026 from 10:00 AM to 11:30 AM in Room 204. Lab records must be submitted to the department office by 12:00 noon on 13 Nov. A guest lecture on "AI in Healthcare" is scheduled on 13 Nov, 11:00 AM to 12:30 PM, Seminar Hall.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5394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E"/>
                </a:solidFill>
                <a:latin typeface="Arial"/>
              </a:rPr>
              <a:t>The PS-02 example: </a:t>
            </a:r>
            <a:r>
              <a:rPr sz="1400" b="1">
                <a:solidFill>
                  <a:srgbClr val="0033EE"/>
                </a:solidFill>
                <a:latin typeface="Arial"/>
              </a:rPr>
              <a:t>three things on one day.</a:t>
            </a:r>
            <a:r>
              <a:rPr sz="1400" b="0">
                <a:solidFill>
                  <a:srgbClr val="22222E"/>
                </a:solidFill>
                <a:latin typeface="Arial"/>
              </a:rPr>
              <a:t> Two of them </a:t>
            </a:r>
            <a:r>
              <a:rPr sz="1400" b="1">
                <a:solidFill>
                  <a:srgbClr val="0033EE"/>
                </a:solidFill>
                <a:latin typeface="Arial"/>
              </a:rPr>
              <a:t>clash</a:t>
            </a:r>
            <a:r>
              <a:rPr sz="1400" b="0">
                <a:solidFill>
                  <a:srgbClr val="22222E"/>
                </a:solidFill>
                <a:latin typeface="Arial"/>
              </a:rPr>
              <a:t>, and nothing in the text says 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033EE"/>
                </a:solidFill>
                <a:latin typeface="Arial"/>
              </a:rPr>
              <a:t>Students miss notices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APSIT Mumbai stopped posting notices in WhatsApp groups because "many students miss important notices" (Sep 2025).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033EE"/>
                </a:solidFill>
                <a:latin typeface="Arial"/>
              </a:rPr>
              <a:t>The class rep carries them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Jamia now keeps academic notices in official class groups run by the class representative (Sep 2026).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033EE"/>
                </a:solidFill>
                <a:latin typeface="Arial"/>
              </a:rPr>
              <a:t>Clashes reach the news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St Agnes College, Mangaluru set semester exams in the Dasara holidays; students protested (PTI, Oct 2026).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2120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20129"/>
                </a:solidFill>
                <a:latin typeface="Arial"/>
              </a:rPr>
              <a:t>Who it is for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Students first. Then the class rep who forwards every notice by hand.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02</a:t>
            </a:r>
            <a:r>
              <a:rPr sz="2800" b="1">
                <a:solidFill>
                  <a:srgbClr val="020129"/>
                </a:solidFill>
                <a:latin typeface="Arial"/>
              </a:rPr>
              <a:t> 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The real app on the PS-02 example. One paste, three events, every field explained.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9" name="Picture 8" descr="shot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7863840" cy="4423410"/>
          </a:xfrm>
          <a:prstGeom prst="rect">
            <a:avLst/>
          </a:prstGeom>
          <a:ln w="12700">
            <a:solidFill>
              <a:srgbClr val="D5D8E3"/>
            </a:solidFill>
          </a:ln>
        </p:spPr>
      </p:pic>
      <p:sp>
        <p:nvSpPr>
          <p:cNvPr id="10" name="Oval 9"/>
          <p:cNvSpPr/>
          <p:nvPr/>
        </p:nvSpPr>
        <p:spPr>
          <a:xfrm>
            <a:off x="6602196" y="1617881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518643" y="2399773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854767" y="4709430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854767" y="4142258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2604616" y="3921856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8641080" y="1673352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00200"/>
            <a:ext cx="269748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20129"/>
                </a:solidFill>
                <a:latin typeface="Arial"/>
              </a:rPr>
              <a:t>One-line answer first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E"/>
                </a:solidFill>
                <a:latin typeface="Arial"/>
              </a:rPr>
              <a:t>3 events found. 2 clashes. Nothing to check.</a:t>
            </a:r>
          </a:p>
        </p:txBody>
      </p:sp>
      <p:sp>
        <p:nvSpPr>
          <p:cNvPr id="17" name="Oval 16"/>
          <p:cNvSpPr/>
          <p:nvPr/>
        </p:nvSpPr>
        <p:spPr>
          <a:xfrm>
            <a:off x="8641080" y="2569464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496312"/>
            <a:ext cx="269748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20129"/>
                </a:solidFill>
                <a:latin typeface="Arial"/>
              </a:rPr>
              <a:t>Highlighter colours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E"/>
                </a:solidFill>
                <a:latin typeface="Arial"/>
              </a:rPr>
              <a:t>Each event's words in the notice, in its own colour.</a:t>
            </a:r>
          </a:p>
        </p:txBody>
      </p:sp>
      <p:sp>
        <p:nvSpPr>
          <p:cNvPr id="19" name="Oval 18"/>
          <p:cNvSpPr/>
          <p:nvPr/>
        </p:nvSpPr>
        <p:spPr>
          <a:xfrm>
            <a:off x="8641080" y="3465576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392424"/>
            <a:ext cx="269748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20129"/>
                </a:solidFill>
                <a:latin typeface="Arial"/>
              </a:rPr>
              <a:t>A reason for every field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E"/>
                </a:solidFill>
                <a:latin typeface="Arial"/>
              </a:rPr>
              <a:t>"why" line + Show in notice lights up the words.</a:t>
            </a:r>
          </a:p>
        </p:txBody>
      </p:sp>
      <p:sp>
        <p:nvSpPr>
          <p:cNvPr id="21" name="Oval 20"/>
          <p:cNvSpPr/>
          <p:nvPr/>
        </p:nvSpPr>
        <p:spPr>
          <a:xfrm>
            <a:off x="8641080" y="4361688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288536"/>
            <a:ext cx="269748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20129"/>
                </a:solidFill>
                <a:latin typeface="Arial"/>
              </a:rPr>
              <a:t>Only doubts ask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E"/>
                </a:solidFill>
                <a:latin typeface="Arial"/>
              </a:rPr>
              <a:t>Sure fields say "Nothing to check"; unsure ones turn amber.</a:t>
            </a:r>
          </a:p>
        </p:txBody>
      </p:sp>
      <p:sp>
        <p:nvSpPr>
          <p:cNvPr id="23" name="Oval 22"/>
          <p:cNvSpPr/>
          <p:nvPr/>
        </p:nvSpPr>
        <p:spPr>
          <a:xfrm>
            <a:off x="8641080" y="5257800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5184648"/>
            <a:ext cx="269748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20129"/>
                </a:solidFill>
                <a:latin typeface="Arial"/>
              </a:rPr>
              <a:t>One tap to the calendar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2222E"/>
                </a:solidFill>
                <a:latin typeface="Arial"/>
              </a:rPr>
              <a:t>Google Calendar per event, or one .ics file for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03</a:t>
            </a:r>
            <a:r>
              <a:rPr sz="2800" b="1">
                <a:solidFill>
                  <a:srgbClr val="020129"/>
                </a:solidFill>
                <a:latin typeface="Arial"/>
              </a:rPr>
              <a:t>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Plain rules, in order. Each step leaves a reason the student can read.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033EE"/>
                </a:solidFill>
                <a:latin typeface="Arial"/>
              </a:rPr>
              <a:t>Paste the notice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WhatsApp text, a PDF copy, the board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4096" y="2221992"/>
            <a:ext cx="310896" cy="274320"/>
          </a:xfrm>
          <a:prstGeom prst="rightArrow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01568" y="16916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033EE"/>
                </a:solidFill>
                <a:latin typeface="Arial"/>
              </a:rPr>
              <a:t>Split it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Sentences, and "Date:" / "Time:" lines kept together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52744" y="2221992"/>
            <a:ext cx="310896" cy="274320"/>
          </a:xfrm>
          <a:prstGeom prst="rightArrow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6916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033EE"/>
                </a:solidFill>
                <a:latin typeface="Arial"/>
              </a:rPr>
              <a:t>Find dates, times, places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13 Nov, 13/11/2026, 2 PM, 14:00, 12 noon, kal 5 baje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51392" y="2221992"/>
            <a:ext cx="310896" cy="274320"/>
          </a:xfrm>
          <a:prstGeom prst="rightArrow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98864" y="16916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033EE"/>
                </a:solidFill>
                <a:latin typeface="Arial"/>
              </a:rPr>
              <a:t>Notice rules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"today" = the notice's date, postponed, windows, TBD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20129"/>
                </a:solidFill>
                <a:latin typeface="Arial"/>
              </a:rPr>
              <a:t>Events with reasons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Each field shows its words in the notice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54096" y="4050791"/>
            <a:ext cx="310896" cy="274320"/>
          </a:xfrm>
          <a:prstGeom prst="rightArrow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01568" y="35204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20129"/>
                </a:solidFill>
                <a:latin typeface="Arial"/>
              </a:rPr>
              <a:t>Student checks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Only amber fields; export stays locked until then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52744" y="4050791"/>
            <a:ext cx="310896" cy="274320"/>
          </a:xfrm>
          <a:prstGeom prst="rightArrow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0216" y="35204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20129"/>
                </a:solidFill>
                <a:latin typeface="Arial"/>
              </a:rPr>
              <a:t>Clash check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Overlap = each starts before the other ends; a deadline is a point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51392" y="4050791"/>
            <a:ext cx="310896" cy="274320"/>
          </a:xfrm>
          <a:prstGeom prst="rightArrow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98864" y="35204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20129"/>
                </a:solidFill>
                <a:latin typeface="Arial"/>
              </a:rPr>
              <a:t>Add to calendar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One .ics file, or Google Calendar in one tap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0835640" y="3108960"/>
            <a:ext cx="274320" cy="347472"/>
          </a:xfrm>
          <a:prstGeom prst="downArrow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7899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EE"/>
                </a:solidFill>
                <a:latin typeface="Arial"/>
              </a:rPr>
              <a:t>Runs in the browser.</a:t>
            </a:r>
            <a:r>
              <a:rPr sz="1600" b="0">
                <a:solidFill>
                  <a:srgbClr val="22222E"/>
                </a:solidFill>
                <a:latin typeface="Arial"/>
              </a:rPr>
              <a:t> No server and no API key: it works offline, the notice never leaves the phone, and a notice costs </a:t>
            </a:r>
            <a:r>
              <a:rPr sz="1600" b="1">
                <a:solidFill>
                  <a:srgbClr val="0033EE"/>
                </a:solidFill>
                <a:latin typeface="Arial"/>
              </a:rPr>
              <a:t>₹0</a:t>
            </a:r>
            <a:r>
              <a:rPr sz="1600" b="0">
                <a:solidFill>
                  <a:srgbClr val="22222E"/>
                </a:solidFill>
                <a:latin typeface="Arial"/>
              </a:rPr>
              <a:t> to decode.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04</a:t>
            </a:r>
            <a:r>
              <a:rPr sz="2800" b="1">
                <a:solidFill>
                  <a:srgbClr val="020129"/>
                </a:solidFill>
                <a:latin typeface="Arial"/>
              </a:rPr>
              <a:t>  PS-02, point by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Every "must have" in the problem statement, and how we checked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45920"/>
          <a:ext cx="111831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120640"/>
                <a:gridCol w="277063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PS-02 asks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What Notice Decoder does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Checked on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Title, type, date, start, end, venue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Reads each field and shows the words it came from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PS example: all 3 events, every field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"13 Nov", "13/11/2026", "2 PM", "14:00"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All four, plus "12 noon", "1:30pm-5pm", "FN", "kal 5 baje"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Engine tests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Review and fix every field before export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Every field editable; export locked until amber fields are fixed or marked "Looks right"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Browser test at phone width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Overlap: each starts before the other ends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"Clash. They overlap from 11:00 to 11:30 AM (30 minutes)."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PS example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A deadline is a point; it clashes inside an event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"The 12:00 PM deadline falls during the guest lecture"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PS example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A valid .ics for common calendar apps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India time zone, reminders by event type, repeats for multi-day events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Read back by Python's icalendar parser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Suggest an action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"Finish Lab record submission before 10:00 AM"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E"/>
                          </a:solidFill>
                          <a:latin typeface="Arial"/>
                        </a:rPr>
                        <a:t>PS example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05</a:t>
            </a:r>
            <a:r>
              <a:rPr sz="2800" b="1">
                <a:solidFill>
                  <a:srgbClr val="020129"/>
                </a:solidFill>
                <a:latin typeface="Arial"/>
              </a:rPr>
              <a:t>  The PS-02 example,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Same three answers as the problem statement, from the real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shot-c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7223760" cy="4351391"/>
          </a:xfrm>
          <a:prstGeom prst="rect">
            <a:avLst/>
          </a:prstGeom>
          <a:ln w="12700">
            <a:solidFill>
              <a:srgbClr val="D5D8E3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001000" y="1600200"/>
            <a:ext cx="368503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157A3A"/>
                </a:solidFill>
                <a:latin typeface="Arial"/>
              </a:rPr>
              <a:t>No clash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Test ends 11:30 AM, before the 12:00 PM deadline.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624328"/>
            <a:ext cx="368503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C61F1F"/>
                </a:solidFill>
                <a:latin typeface="Arial"/>
              </a:rPr>
              <a:t>Clash: 30 minutes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Test and guest lecture overlap 11:00 to 11:30 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648456"/>
            <a:ext cx="368503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C61F1F"/>
                </a:solidFill>
                <a:latin typeface="Arial"/>
              </a:rPr>
              <a:t>Clash: deadline inside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The 12:00 PM deadline falls during the lecture.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709160"/>
            <a:ext cx="3685032" cy="14173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20129"/>
                </a:solidFill>
                <a:latin typeface="Arial"/>
              </a:rPr>
              <a:t>Suggested action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Finish the lab records before 10:00 AM: from 10:00 to 12:00 you are in the test and the lecture.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06</a:t>
            </a:r>
            <a:r>
              <a:rPr sz="2800" b="1">
                <a:solidFill>
                  <a:srgbClr val="020129"/>
                </a:solidFill>
                <a:latin typeface="Arial"/>
              </a:rPr>
              <a:t>  Beyond the obvious: real notices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Rules written for the way Indian college notices are really written.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20129"/>
                </a:solidFill>
                <a:latin typeface="Arial"/>
              </a:rPr>
              <a:t>"POSTPONED to 20 Nov"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Moves the event and shows the old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20129"/>
                </a:solidFill>
                <a:latin typeface="Arial"/>
              </a:rPr>
              <a:t>"today's drive" + "Date: 05 Oct"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"today" means the notice's date, not the day you paste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20129"/>
                </a:solidFill>
                <a:latin typeface="Arial"/>
              </a:rPr>
              <a:t>"available 1:30pm-5pm, 60 min"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A window: "take it 1:30 to 2:30 PM", not a clash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78608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20129"/>
                </a:solidFill>
                <a:latin typeface="Arial"/>
              </a:rPr>
              <a:t>"this week or next week"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Goes to Not scheduled yet, never a made-up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11296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20129"/>
                </a:solidFill>
                <a:latin typeface="Arial"/>
              </a:rPr>
              <a:t>"results today 9 pm" and "next day"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Both shown in amber until the student picks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511296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20129"/>
                </a:solidFill>
                <a:latin typeface="Arial"/>
              </a:rPr>
              <a:t>"04/05/2027"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Read day first (4 May) and asks if it means 5 April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43984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20129"/>
                </a:solidFill>
                <a:latin typeface="Arial"/>
              </a:rPr>
              <a:t>"lecture cancel ho gayi"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Reported as cancelled, never added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443984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20129"/>
                </a:solidFill>
                <a:latin typeface="Arial"/>
              </a:rPr>
              <a:t>"kal shaam 5 baje"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5 PM tomorrow, flagged: kal can also mean yesterday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33EE"/>
                </a:solidFill>
                <a:latin typeface="Arial"/>
              </a:rPr>
              <a:t>Why rules, not AI:</a:t>
            </a:r>
            <a:r>
              <a:rPr sz="1500" b="0">
                <a:solidFill>
                  <a:srgbClr val="22222E"/>
                </a:solidFill>
                <a:latin typeface="Arial"/>
              </a:rPr>
              <a:t> the same answer every time, a reason for every field, offline and ₹0. Rules missed </a:t>
            </a:r>
            <a:r>
              <a:rPr sz="1500" b="1">
                <a:solidFill>
                  <a:srgbClr val="0033EE"/>
                </a:solidFill>
                <a:latin typeface="Arial"/>
              </a:rPr>
              <a:t>7 of 152</a:t>
            </a:r>
            <a:r>
              <a:rPr sz="1500" b="0">
                <a:solidFill>
                  <a:srgbClr val="22222E"/>
                </a:solidFill>
                <a:latin typeface="Arial"/>
              </a:rPr>
              <a:t> checks, mostly spelling mistakes: the only place an AI fallback would help.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07</a:t>
            </a:r>
            <a:r>
              <a:rPr sz="2800" b="1">
                <a:solidFill>
                  <a:srgbClr val="020129"/>
                </a:solidFill>
                <a:latin typeface="Arial"/>
              </a:rPr>
              <a:t>  Tested, and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Numbers from our own test runs and from reading other teams' public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0033EE"/>
                </a:solidFill>
                <a:latin typeface="Arial"/>
              </a:rPr>
              <a:t>19 of 19</a:t>
            </a:r>
          </a:p>
          <a:p>
            <a:pPr algn="ctr"/>
            <a:r>
              <a:rPr sz="1300" b="0">
                <a:solidFill>
                  <a:srgbClr val="22222E"/>
                </a:solidFill>
                <a:latin typeface="Arial"/>
              </a:rPr>
              <a:t>engine tests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0033EE"/>
                </a:solidFill>
                <a:latin typeface="Arial"/>
              </a:rPr>
              <a:t>37 of 37</a:t>
            </a:r>
          </a:p>
          <a:p>
            <a:pPr algn="ctr"/>
            <a:r>
              <a:rPr sz="1300" b="0">
                <a:solidFill>
                  <a:srgbClr val="22222E"/>
                </a:solidFill>
                <a:latin typeface="Arial"/>
              </a:rPr>
              <a:t>browser checks pass at phone width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0033EE"/>
                </a:solidFill>
                <a:latin typeface="Arial"/>
              </a:rPr>
              <a:t>145 of 152</a:t>
            </a:r>
          </a:p>
          <a:p>
            <a:pPr algn="ctr"/>
            <a:r>
              <a:rPr sz="1300" b="0">
                <a:solidFill>
                  <a:srgbClr val="22222E"/>
                </a:solidFill>
                <a:latin typeface="Arial"/>
              </a:rPr>
              <a:t>checks right on 20 new messy notices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10896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0033EE"/>
                </a:solidFill>
                <a:latin typeface="Arial"/>
              </a:rPr>
              <a:t>3 of 3</a:t>
            </a:r>
          </a:p>
          <a:p>
            <a:pPr algn="ctr"/>
            <a:r>
              <a:rPr sz="1300" b="0">
                <a:solidFill>
                  <a:srgbClr val="22222E"/>
                </a:solidFill>
                <a:latin typeface="Arial"/>
              </a:rPr>
              <a:t>.ics files read back by Python's icalendar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54406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0129"/>
                </a:solidFill>
                <a:latin typeface="Arial"/>
              </a:rPr>
              <a:t>Not done yet:</a:t>
            </a:r>
            <a:r>
              <a:rPr sz="1600" b="0">
                <a:solidFill>
                  <a:srgbClr val="22222E"/>
                </a:solidFill>
                <a:latin typeface="Arial"/>
              </a:rPr>
              <a:t> photos of notices, Hindi script, spelling mistakes ("tset", "Nvo" leave the date empty and keep export locked).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17920" y="1645920"/>
          <a:ext cx="54681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179576"/>
                <a:gridCol w="11795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Public project (Oct 2026)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Calendar file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Clash check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7 notice tools on GitHub, mostly AI summaries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0 of 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0 of 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edt-tamis: university timetable files, not notices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Notice Decoder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Yes, with the reason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7920" y="3657600"/>
            <a:ext cx="5468112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E"/>
                </a:solidFill>
                <a:latin typeface="Arial"/>
              </a:rPr>
              <a:t>We read their code, not their README: no VCALENDAR, no clash or overlap check in any of the 7.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E"/>
                </a:solidFill>
                <a:latin typeface="Arial"/>
              </a:rPr>
              <a:t>Closest on rules: one tool reads DD/MM dates offline, but has no clock times, calendar file or clash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08</a:t>
            </a:r>
            <a:r>
              <a:rPr sz="2800" b="1">
                <a:solidFill>
                  <a:srgbClr val="020129"/>
                </a:solidFill>
                <a:latin typeface="Arial"/>
              </a:rPr>
              <a:t>  Easy on a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A first-time user knows where to look: the answer first, then only what needs a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pic>
        <p:nvPicPr>
          <p:cNvPr id="9" name="Picture 8" descr="shot-phone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2240280" cy="4848196"/>
          </a:xfrm>
          <a:prstGeom prst="rect">
            <a:avLst/>
          </a:prstGeom>
          <a:ln w="12700">
            <a:solidFill>
              <a:srgbClr val="D5D8E3"/>
            </a:solidFill>
          </a:ln>
        </p:spPr>
      </p:pic>
      <p:sp>
        <p:nvSpPr>
          <p:cNvPr id="10" name="Oval 9"/>
          <p:cNvSpPr/>
          <p:nvPr/>
        </p:nvSpPr>
        <p:spPr>
          <a:xfrm>
            <a:off x="493776" y="1940892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" y="3696317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" y="2276216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520440" y="1700784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645920"/>
            <a:ext cx="365760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20129"/>
                </a:solidFill>
                <a:latin typeface="Arial"/>
              </a:rPr>
              <a:t>It says what to check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E"/>
                </a:solidFill>
                <a:latin typeface="Arial"/>
              </a:rPr>
              <a:t>"04/05/2027" read as 4 May 2027. If it means 5 Apr, fix the date.</a:t>
            </a:r>
          </a:p>
        </p:txBody>
      </p:sp>
      <p:sp>
        <p:nvSpPr>
          <p:cNvPr id="15" name="Oval 14"/>
          <p:cNvSpPr/>
          <p:nvPr/>
        </p:nvSpPr>
        <p:spPr>
          <a:xfrm>
            <a:off x="3520440" y="2724912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70048"/>
            <a:ext cx="365760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20129"/>
                </a:solidFill>
                <a:latin typeface="Arial"/>
              </a:rPr>
              <a:t>The doubtful field is outlined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E"/>
                </a:solidFill>
                <a:latin typeface="Arial"/>
              </a:rPr>
              <a:t>Amber, on the field itself; the sure fields stay plain.</a:t>
            </a:r>
          </a:p>
        </p:txBody>
      </p:sp>
      <p:sp>
        <p:nvSpPr>
          <p:cNvPr id="17" name="Oval 16"/>
          <p:cNvSpPr/>
          <p:nvPr/>
        </p:nvSpPr>
        <p:spPr>
          <a:xfrm>
            <a:off x="3520440" y="3749039"/>
            <a:ext cx="329184" cy="329184"/>
          </a:xfrm>
          <a:prstGeom prst="ellipse">
            <a:avLst/>
          </a:prstGeom>
          <a:solidFill>
            <a:srgbClr val="0033E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694176"/>
            <a:ext cx="365760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20129"/>
                </a:solidFill>
                <a:latin typeface="Arial"/>
              </a:rPr>
              <a:t>"Looks right" or fix it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E"/>
                </a:solidFill>
                <a:latin typeface="Arial"/>
              </a:rPr>
              <a:t>Export and Google Calendar unlock only after this.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600200"/>
            <a:ext cx="3822191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033EE"/>
                </a:solidFill>
                <a:latin typeface="Arial"/>
              </a:rPr>
              <a:t>One-line answer at the top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"3 events found. 2 clashes. Nothing to check."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761488"/>
            <a:ext cx="3822191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033EE"/>
                </a:solidFill>
                <a:latin typeface="Arial"/>
              </a:rPr>
              <a:t>Colour links card and notice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Same highlighter colour on both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922776"/>
            <a:ext cx="3822191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033EE"/>
                </a:solidFill>
                <a:latin typeface="Arial"/>
              </a:rPr>
              <a:t>Fits a 360 px phone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No sideways scroll; the timeline fits the screen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5084064"/>
            <a:ext cx="3822191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400" b="1">
                <a:solidFill>
                  <a:srgbClr val="0033EE"/>
                </a:solidFill>
                <a:latin typeface="Arial"/>
              </a:rPr>
              <a:t>Errors say what to do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"Too short to be a notice. Paste the whole message, with its date and time."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846320"/>
            <a:ext cx="41148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0129"/>
                </a:solidFill>
                <a:latin typeface="Arial"/>
              </a:rPr>
              <a:t>Plain words:</a:t>
            </a:r>
            <a:r>
              <a:rPr sz="1400" b="0">
                <a:solidFill>
                  <a:srgbClr val="22222E"/>
                </a:solidFill>
                <a:latin typeface="Arial"/>
              </a:rPr>
              <a:t> "Clash. They overlap from 11:00 to 11:30 AM (30 minutes)." No codes, no jargon.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E"/>
                </a:solidFill>
                <a:latin typeface="Arial"/>
              </a:rPr>
              <a:t>SETU 2026</a:t>
            </a:r>
            <a:r>
              <a:rPr sz="1200" b="0">
                <a:solidFill>
                  <a:srgbClr val="5E6070"/>
                </a:solidFill>
                <a:latin typeface="Arial"/>
              </a:rPr>
              <a:t>  Forge Realm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201168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0033EE"/>
                </a:solidFill>
                <a:latin typeface="Arial"/>
              </a:rPr>
              <a:t>PS-02  NOTICE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EE"/>
                </a:solidFill>
                <a:latin typeface="Arial"/>
              </a:rPr>
              <a:t>09</a:t>
            </a:r>
            <a:r>
              <a:rPr sz="2800" b="1">
                <a:solidFill>
                  <a:srgbClr val="020129"/>
                </a:solidFill>
                <a:latin typeface="Arial"/>
              </a:rPr>
              <a:t>  Who pays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E6070"/>
                </a:solidFill>
                <a:latin typeface="Arial"/>
              </a:rPr>
              <a:t>Free for every student. The department pays for the part that saves the class rep's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20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Team </a:t>
            </a:r>
            <a:r>
              <a:rPr sz="1200" b="1">
                <a:solidFill>
                  <a:srgbClr val="FFFFFF"/>
                </a:solidFill>
                <a:latin typeface="Arial"/>
              </a:rPr>
              <a:t>Nova Nexus</a:t>
            </a:r>
            <a:r>
              <a:rPr sz="1200" b="0">
                <a:solidFill>
                  <a:srgbClr val="FFFFFF"/>
                </a:solidFill>
                <a:latin typeface="Arial"/>
              </a:rPr>
              <a:t>   |   SETU 2026 Forge Realm   |   PS-02 Notice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8229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45920"/>
          <a:ext cx="1118311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920240"/>
                <a:gridCol w="3685032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Plan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Who uses it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Who pays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they get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Our cost</a:t>
                      </a:r>
                    </a:p>
                  </a:txBody>
                  <a:tcPr marL="73152" marR="73152" marT="36576" marB="36576">
                    <a:solidFill>
                      <a:srgbClr val="02012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Every student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Nobody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Paste, check, clashes, calendar file, Google Calendar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About ₹0: runs on the phone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Department plan (planned)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Class rep or teacher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Department; HOD signs off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Decode once, publish; the class subscribes to one calendar link that updates itself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Arial"/>
                        </a:rPr>
                        <a:t>A small server and storage</a:t>
                      </a:r>
                    </a:p>
                  </a:txBody>
                  <a:tcPr marL="73152" marR="73152" marT="36576" marB="36576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24612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0033EE"/>
                </a:solidFill>
                <a:latin typeface="Arial"/>
              </a:rPr>
              <a:t>₹2,999</a:t>
            </a:r>
          </a:p>
          <a:p>
            <a:pPr algn="ctr"/>
            <a:r>
              <a:rPr sz="1300" b="0">
                <a:solidFill>
                  <a:srgbClr val="22222E"/>
                </a:solidFill>
                <a:latin typeface="Arial"/>
              </a:rPr>
              <a:t>per department per year (proposed), first term 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246120"/>
            <a:ext cx="3886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20129"/>
                </a:solidFill>
                <a:latin typeface="Arial"/>
              </a:rPr>
              <a:t>Why pay when WhatsApp is free?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The plan does the typing, catches clashes before publishing, and moves an event for everyone when a notice is revised.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246120"/>
            <a:ext cx="39136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500" b="1">
                <a:solidFill>
                  <a:srgbClr val="020129"/>
                </a:solidFill>
                <a:latin typeface="Arial"/>
              </a:rPr>
              <a:t>Pilot: one department, one term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2222E"/>
                </a:solidFill>
                <a:latin typeface="Arial"/>
              </a:rPr>
              <a:t>Count notices published and clashes caught. It works if the HOD pays for the next term.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1118311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20129"/>
                </a:solidFill>
                <a:latin typeface="Arial"/>
              </a:rPr>
              <a:t>For scale:</a:t>
            </a:r>
            <a:r>
              <a:rPr sz="1600" b="0">
                <a:solidFill>
                  <a:srgbClr val="22222E"/>
                </a:solidFill>
                <a:latin typeface="Arial"/>
              </a:rPr>
              <a:t> Fedena, a full college ERP, lists $999 to $1,699 a year for a whole college, so one feature for one department must cost far less.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20129"/>
                </a:solidFill>
                <a:latin typeface="Arial"/>
              </a:rPr>
              <a:t>Honest status:</a:t>
            </a:r>
            <a:r>
              <a:rPr sz="1600" b="0">
                <a:solidFill>
                  <a:srgbClr val="22222E"/>
                </a:solidFill>
                <a:latin typeface="Arial"/>
              </a:rPr>
              <a:t> no college has paid yet; the price is our estimate for the pilot to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