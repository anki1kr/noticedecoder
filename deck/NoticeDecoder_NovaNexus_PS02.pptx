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nki1kr.me/NoticeDecoder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nki1kr.me/NoticeDecoder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411480" y="1261872"/>
            <a:ext cx="4993639" cy="182880"/>
          </a:xfrm>
          <a:prstGeom prst="roundRect">
            <a:avLst>
              <a:gd name="adj" fmla="val 50000"/>
            </a:avLst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411480" y="960120"/>
            <a:ext cx="6492240" cy="685800"/>
          </a:xfrm>
        </p:spPr>
        <p:txBody>
          <a:bodyPr tIns="0" bIns="0" anchor="t"/>
          <a:lstStyle/>
          <a:p>
            <a:pPr algn="l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NOTICE DECODER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SETU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sz="1800" b="0"/>
              <a:t>PS-02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sz="1800" b="0"/>
              <a:t>Notice Decoder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Realm – </a:t>
            </a:r>
            <a:r>
              <a:rPr sz="1800" b="0"/>
              <a:t>Forge Realm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Category – </a:t>
            </a:r>
            <a:r>
              <a:rPr sz="1800" b="0"/>
              <a:t>Software (web + Android)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sz="1800" b="0"/>
              <a:t>Nova Nexus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Members – </a:t>
            </a:r>
            <a:r>
              <a:rPr sz="1800" b="0"/>
              <a:t>Ankit Kumar (Leader), Ankit, Ashwani Tanwar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6400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1">
                <a:solidFill>
                  <a:srgbClr val="5B6370"/>
                </a:solidFill>
                <a:latin typeface="Calibri"/>
              </a:rPr>
              <a:t>A notice lands in the class group. It is in your calendar before you open the chat.</a:t>
            </a:r>
          </a:p>
        </p:txBody>
      </p:sp>
      <p:pic>
        <p:nvPicPr>
          <p:cNvPr id="13" name="Picture 12" descr="phone-results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325880"/>
            <a:ext cx="2331720" cy="3280351"/>
          </a:xfrm>
          <a:prstGeom prst="rect">
            <a:avLst/>
          </a:prstGeom>
          <a:ln w="12700">
            <a:solidFill>
              <a:srgbClr val="C9D2DF"/>
            </a:solidFill>
          </a:ln>
        </p:spPr>
      </p:pic>
      <p:pic>
        <p:nvPicPr>
          <p:cNvPr id="14" name="Picture 13" descr="qr-live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2011680"/>
            <a:ext cx="1600200" cy="160020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3639312"/>
            <a:ext cx="2331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3"/>
              </a:rPr>
              <a:t>Live demo</a:t>
            </a:r>
            <a: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4206240"/>
            <a:ext cx="23774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Scan to open the working app on your phone.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28600"/>
            <a:ext cx="2514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ounded Rectangle 15361"/>
          <p:cNvSpPr/>
          <p:nvPr/>
        </p:nvSpPr>
        <p:spPr>
          <a:xfrm>
            <a:off x="3360420" y="658368"/>
            <a:ext cx="4526279" cy="164592"/>
          </a:xfrm>
          <a:prstGeom prst="roundRect">
            <a:avLst>
              <a:gd name="adj" fmla="val 50000"/>
            </a:avLst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algn="ctr"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NOTICE DECODER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@SETU 2026  PS-02 Idea Submission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Nova Nexus</a:t>
            </a:r>
            <a:endParaRPr lang="en-IN" dirty="0"/>
          </a:p>
        </p:txBody>
      </p:sp>
      <p:sp>
        <p:nvSpPr>
          <p:cNvPr id="15363" name="TextBox 15362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1188720"/>
            <a:ext cx="11365992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5" name="TextBox 15364"/>
          <p:cNvSpPr txBox="1"/>
          <p:nvPr/>
        </p:nvSpPr>
        <p:spPr>
          <a:xfrm>
            <a:off x="466344" y="1188720"/>
            <a:ext cx="11274552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11480" y="1627632"/>
            <a:ext cx="11365992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97D"/>
                </a:solidFill>
                <a:latin typeface="Calibri"/>
              </a:rPr>
              <a:t>Paste, share or auto-read</a:t>
            </a:r>
            <a:r>
              <a:rPr sz="1500" b="0">
                <a:solidFill>
                  <a:srgbClr val="262A33"/>
                </a:solidFill>
                <a:latin typeface="Calibri"/>
              </a:rPr>
              <a:t> a college notice. It becomes </a:t>
            </a:r>
            <a:r>
              <a:rPr sz="1500" b="1">
                <a:solidFill>
                  <a:srgbClr val="262A33"/>
                </a:solidFill>
                <a:highlight>
                  <a:srgbClr val="FFF176"/>
                </a:highlight>
                <a:latin typeface="Calibri"/>
              </a:rPr>
              <a:t>calendar events</a:t>
            </a:r>
            <a:r>
              <a:rPr sz="1500" b="0">
                <a:solidFill>
                  <a:srgbClr val="262A33"/>
                </a:solidFill>
                <a:latin typeface="Calibri"/>
              </a:rPr>
              <a:t>, </a:t>
            </a:r>
            <a:r>
              <a:rPr sz="1500" b="1">
                <a:solidFill>
                  <a:srgbClr val="1F497D"/>
                </a:solidFill>
                <a:latin typeface="Calibri"/>
              </a:rPr>
              <a:t>clashes</a:t>
            </a:r>
            <a:r>
              <a:rPr sz="1500" b="0">
                <a:solidFill>
                  <a:srgbClr val="262A33"/>
                </a:solidFill>
                <a:latin typeface="Calibri"/>
              </a:rPr>
              <a:t> are found, and the student is asked only about an </a:t>
            </a:r>
            <a:r>
              <a:rPr sz="1500" b="1">
                <a:solidFill>
                  <a:srgbClr val="262A33"/>
                </a:solidFill>
                <a:highlight>
                  <a:srgbClr val="FFF176"/>
                </a:highlight>
                <a:latin typeface="Calibri"/>
              </a:rPr>
              <a:t>uncertain field</a:t>
            </a:r>
            <a:r>
              <a:rPr sz="1500" b="0">
                <a:solidFill>
                  <a:srgbClr val="262A33"/>
                </a:solidFill>
                <a:latin typeface="Calibri"/>
              </a:rPr>
              <a:t>.</a:t>
            </a:r>
          </a:p>
        </p:txBody>
      </p:sp>
      <p:pic>
        <p:nvPicPr>
          <p:cNvPr id="15367" name="Picture 15366" descr="shot-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240280"/>
            <a:ext cx="6035040" cy="3198345"/>
          </a:xfrm>
          <a:prstGeom prst="rect">
            <a:avLst/>
          </a:prstGeom>
          <a:ln w="12700">
            <a:solidFill>
              <a:srgbClr val="C9D2DF"/>
            </a:solidFill>
          </a:ln>
        </p:spPr>
      </p:pic>
      <p:sp>
        <p:nvSpPr>
          <p:cNvPr id="15368" name="Oval 15367"/>
          <p:cNvSpPr/>
          <p:nvPr/>
        </p:nvSpPr>
        <p:spPr>
          <a:xfrm>
            <a:off x="484632" y="2228927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69" name="Oval 15368"/>
          <p:cNvSpPr/>
          <p:nvPr/>
        </p:nvSpPr>
        <p:spPr>
          <a:xfrm>
            <a:off x="484632" y="3384512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70" name="Oval 15369"/>
          <p:cNvSpPr/>
          <p:nvPr/>
        </p:nvSpPr>
        <p:spPr>
          <a:xfrm>
            <a:off x="484632" y="4757653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502920" y="5530065"/>
            <a:ext cx="6400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1</a:t>
            </a:r>
            <a:r>
              <a:rPr sz="1300" b="0">
                <a:solidFill>
                  <a:srgbClr val="262A33"/>
                </a:solidFill>
                <a:latin typeface="Calibri"/>
              </a:rPr>
              <a:t> The answer first      </a:t>
            </a:r>
            <a:r>
              <a:rPr sz="1300" b="1">
                <a:solidFill>
                  <a:srgbClr val="1F497D"/>
                </a:solidFill>
                <a:latin typeface="Calibri"/>
              </a:rPr>
              <a:t>2</a:t>
            </a:r>
            <a:r>
              <a:rPr sz="1300" b="0">
                <a:solidFill>
                  <a:srgbClr val="262A33"/>
                </a:solidFill>
                <a:latin typeface="Calibri"/>
              </a:rPr>
              <a:t> Highlighter shows the source words      </a:t>
            </a:r>
            <a:r>
              <a:rPr sz="1300" b="1">
                <a:solidFill>
                  <a:srgbClr val="1F497D"/>
                </a:solidFill>
                <a:latin typeface="Calibri"/>
              </a:rPr>
              <a:t>3</a:t>
            </a:r>
            <a:r>
              <a:rPr sz="1300" b="0">
                <a:solidFill>
                  <a:srgbClr val="262A33"/>
                </a:solidFill>
                <a:latin typeface="Calibri"/>
              </a:rPr>
              <a:t> One clean line per event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7178040" y="2240280"/>
            <a:ext cx="4599432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3" name="TextBox 15372"/>
          <p:cNvSpPr txBox="1"/>
          <p:nvPr/>
        </p:nvSpPr>
        <p:spPr>
          <a:xfrm>
            <a:off x="7232903" y="2240280"/>
            <a:ext cx="4507992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7178040" y="2697480"/>
            <a:ext cx="4599432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Every field shows why:</a:t>
            </a:r>
            <a:r>
              <a:rPr sz="1400" b="0">
                <a:solidFill>
                  <a:srgbClr val="262A33"/>
                </a:solidFill>
                <a:latin typeface="Calibri"/>
              </a:rPr>
              <a:t> the exact words it came from.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Clash check:</a:t>
            </a:r>
            <a:r>
              <a:rPr sz="1400" b="0">
                <a:solidFill>
                  <a:srgbClr val="262A33"/>
                </a:solidFill>
                <a:latin typeface="Calibri"/>
              </a:rPr>
              <a:t> overlap, and a deadline that falls inside another event.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One tap</a:t>
            </a:r>
            <a:r>
              <a:rPr sz="1400" b="0">
                <a:solidFill>
                  <a:srgbClr val="262A33"/>
                </a:solidFill>
                <a:latin typeface="Calibri"/>
              </a:rPr>
              <a:t> to Google Calendar; .ics and a class link as backups.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7178040" y="4069080"/>
            <a:ext cx="4599432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6" name="TextBox 15375"/>
          <p:cNvSpPr txBox="1"/>
          <p:nvPr/>
        </p:nvSpPr>
        <p:spPr>
          <a:xfrm>
            <a:off x="7232903" y="4069080"/>
            <a:ext cx="4507992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Innovation and uniqueness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7178040" y="4526280"/>
            <a:ext cx="4599432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Plain rules on the phone</a:t>
            </a:r>
            <a:r>
              <a:rPr sz="1400" b="0">
                <a:solidFill>
                  <a:srgbClr val="262A33"/>
                </a:solidFill>
                <a:latin typeface="Calibri"/>
              </a:rPr>
              <a:t>, no AI: same answer every time, the notice never leaves the device.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Asks, never guesses:</a:t>
            </a:r>
            <a:r>
              <a:rPr sz="1400" b="0">
                <a:solidFill>
                  <a:srgbClr val="262A33"/>
                </a:solidFill>
                <a:latin typeface="Calibri"/>
              </a:rPr>
              <a:t> "Thursday, but 13 Nov 2026 is a Friday."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7178040" y="5532120"/>
            <a:ext cx="4599432" cy="713232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128016" rtlCol="0" anchor="ctr"/>
          <a:lstStyle/>
          <a:p>
            <a:pPr algn="ctr"/>
            <a:r>
              <a:rPr sz="2000" b="1">
                <a:solidFill>
                  <a:srgbClr val="262A33"/>
                </a:solidFill>
                <a:latin typeface="Calibri"/>
              </a:rPr>
              <a:t>3 of 3 events right</a:t>
            </a:r>
          </a:p>
          <a:p>
            <a:r>
              <a:rPr sz="1300" b="0">
                <a:solidFill>
                  <a:srgbClr val="262A33"/>
                </a:solidFill>
                <a:latin typeface="Calibri"/>
              </a:rPr>
              <a:t>and both clashes found on the PS-02 example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726447" y="658368"/>
            <a:ext cx="5794224" cy="164592"/>
          </a:xfrm>
          <a:prstGeom prst="roundRect">
            <a:avLst>
              <a:gd name="adj" fmla="val 50000"/>
            </a:avLst>
          </a:prstGeom>
          <a:solidFill>
            <a:srgbClr val="B8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algn="ctr"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@SETU 2026  PS-02 Idea Submission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4983480" cy="384048"/>
          </a:xfrm>
          <a:prstGeom prst="roundRect">
            <a:avLst>
              <a:gd name="adj" fmla="val 18000"/>
            </a:avLst>
          </a:prstGeom>
          <a:solidFill>
            <a:srgbClr val="E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4892040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5586"/>
                </a:solidFill>
                <a:latin typeface="Calibri"/>
              </a:rPr>
              <a:t>Technologies used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11480" y="1691640"/>
            <a:ext cx="4983480" cy="3291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Engine:</a:t>
            </a:r>
            <a:r>
              <a:rPr sz="1400" b="0">
                <a:solidFill>
                  <a:srgbClr val="262A33"/>
                </a:solidFill>
                <a:latin typeface="Calibri"/>
              </a:rPr>
              <a:t> plain JavaScript rules; runs in the browser. No server, no AI model.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Inputs:</a:t>
            </a:r>
            <a:r>
              <a:rPr sz="1400" b="0">
                <a:solidFill>
                  <a:srgbClr val="262A33"/>
                </a:solidFill>
                <a:latin typeface="Calibri"/>
              </a:rPr>
              <a:t> paste or share (installable web app), photos and PDFs read on the device, a Gmail Apps Script, an Android companion app.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Calendar:</a:t>
            </a:r>
            <a:r>
              <a:rPr sz="1400" b="0">
                <a:solidFill>
                  <a:srgbClr val="262A33"/>
                </a:solidFill>
                <a:latin typeface="Calibri"/>
              </a:rPr>
              <a:t> .ics file (India time, reminders), Google Calendar in one tap, a class feed on a free Cloudflare Worker.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Tests on every push:</a:t>
            </a:r>
            <a:r>
              <a:rPr sz="1400" b="0">
                <a:solidFill>
                  <a:srgbClr val="262A33"/>
                </a:solidFill>
                <a:latin typeface="Calibri"/>
              </a:rPr>
              <a:t> 32 engine, 9 feed, 7 Gmail, 5 app tests; 73 browser checks.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5074920"/>
            <a:ext cx="49834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One engine everywhere:</a:t>
            </a:r>
            <a:r>
              <a:rPr sz="1400" b="0">
                <a:solidFill>
                  <a:srgbClr val="262A33"/>
                </a:solidFill>
                <a:latin typeface="Calibri"/>
              </a:rPr>
              <a:t> the web app, the Gmail script and the Android app run the same bundled rules file.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669280" y="1188720"/>
            <a:ext cx="6108192" cy="384048"/>
          </a:xfrm>
          <a:prstGeom prst="roundRect">
            <a:avLst>
              <a:gd name="adj" fmla="val 18000"/>
            </a:avLst>
          </a:prstGeom>
          <a:solidFill>
            <a:srgbClr val="E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5724144" y="1188720"/>
            <a:ext cx="6016752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5586"/>
                </a:solidFill>
                <a:latin typeface="Calibri"/>
              </a:rPr>
              <a:t>Methodology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5669280" y="17830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F176"/>
          </a:solidFill>
          <a:ln w="15875">
            <a:solidFill>
              <a:srgbClr val="6E5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Paste or share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7269480" y="2057400"/>
            <a:ext cx="457199" cy="73152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5669280" y="24688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C4E1"/>
          </a:solidFill>
          <a:ln w="15875">
            <a:solidFill>
              <a:srgbClr val="9221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Photo or PDF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7269480" y="2743200"/>
            <a:ext cx="457199" cy="4572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5669280" y="31546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D59C"/>
          </a:solidFill>
          <a:ln w="15875">
            <a:solidFill>
              <a:srgbClr val="864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College email</a:t>
            </a:r>
          </a:p>
        </p:txBody>
      </p:sp>
      <p:cxnSp>
        <p:nvCxnSpPr>
          <p:cNvPr id="17423" name="Connector 17422"/>
          <p:cNvCxnSpPr/>
          <p:nvPr/>
        </p:nvCxnSpPr>
        <p:spPr>
          <a:xfrm flipV="1">
            <a:off x="7269480" y="2788920"/>
            <a:ext cx="457199" cy="64008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5669280" y="38404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B9F5A6"/>
          </a:solidFill>
          <a:ln w="15875">
            <a:solidFill>
              <a:srgbClr val="1E6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WhatsApp group</a:t>
            </a:r>
          </a:p>
        </p:txBody>
      </p:sp>
      <p:cxnSp>
        <p:nvCxnSpPr>
          <p:cNvPr id="17425" name="Connector 17424"/>
          <p:cNvCxnSpPr/>
          <p:nvPr/>
        </p:nvCxnSpPr>
        <p:spPr>
          <a:xfrm flipV="1">
            <a:off x="7269480" y="2788920"/>
            <a:ext cx="457199" cy="132588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7726679" y="224028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Rules engine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  <a:latin typeface="Calibri"/>
              </a:rPr>
              <a:t>dates, times, rooms; a reason for every field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921240" y="1783080"/>
            <a:ext cx="1856231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Nothing uncertain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added, with Undo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921240" y="2880360"/>
            <a:ext cx="1856231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A5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9A5B00"/>
                </a:solidFill>
                <a:latin typeface="Calibri"/>
              </a:rPr>
              <a:t>An amber field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asks only for that one</a:t>
            </a:r>
          </a:p>
        </p:txBody>
      </p:sp>
      <p:cxnSp>
        <p:nvCxnSpPr>
          <p:cNvPr id="17429" name="Connector 17428"/>
          <p:cNvCxnSpPr/>
          <p:nvPr/>
        </p:nvCxnSpPr>
        <p:spPr>
          <a:xfrm flipV="1">
            <a:off x="9555480" y="2212848"/>
            <a:ext cx="365760" cy="438912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>
            <a:off x="9555480" y="2926080"/>
            <a:ext cx="365760" cy="38404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Rounded Rectangle 17430"/>
          <p:cNvSpPr/>
          <p:nvPr/>
        </p:nvSpPr>
        <p:spPr>
          <a:xfrm>
            <a:off x="7726679" y="41605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400" b="1">
                <a:solidFill>
                  <a:srgbClr val="1F497D"/>
                </a:solidFill>
                <a:latin typeface="Calibri"/>
              </a:rPr>
              <a:t>Clash check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overlap; a deadline is a point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641080" y="3337560"/>
            <a:ext cx="0" cy="82296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9921240" y="4160520"/>
            <a:ext cx="18562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400" b="1">
                <a:solidFill>
                  <a:srgbClr val="1F497D"/>
                </a:solidFill>
                <a:latin typeface="Calibri"/>
              </a:rPr>
              <a:t>Calendar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Google, phone, class feed, .ics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9555480" y="4617720"/>
            <a:ext cx="36576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TextBox 17434"/>
          <p:cNvSpPr txBox="1"/>
          <p:nvPr/>
        </p:nvSpPr>
        <p:spPr>
          <a:xfrm>
            <a:off x="5669280" y="5303520"/>
            <a:ext cx="6108192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A33"/>
                </a:solidFill>
                <a:latin typeface="Calibri"/>
              </a:rPr>
              <a:t>Re-adding a notice </a:t>
            </a:r>
            <a:r>
              <a:rPr sz="1400" b="1">
                <a:solidFill>
                  <a:srgbClr val="262A33"/>
                </a:solidFill>
                <a:highlight>
                  <a:srgbClr val="B8E4FF"/>
                </a:highlight>
                <a:latin typeface="Calibri"/>
              </a:rPr>
              <a:t>updates</a:t>
            </a:r>
            <a:r>
              <a:rPr sz="1400" b="0">
                <a:solidFill>
                  <a:srgbClr val="262A33"/>
                </a:solidFill>
                <a:latin typeface="Calibri"/>
              </a:rPr>
              <a:t> the same calendar events instead of copying them (one ID per event).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158948" y="658368"/>
            <a:ext cx="6929223" cy="164592"/>
          </a:xfrm>
          <a:prstGeom prst="roundRect">
            <a:avLst>
              <a:gd name="adj" fmla="val 50000"/>
            </a:avLst>
          </a:prstGeom>
          <a:solidFill>
            <a:srgbClr val="B9F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algn="ctr"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5120640" cy="384048"/>
          </a:xfrm>
          <a:prstGeom prst="roundRect">
            <a:avLst>
              <a:gd name="adj" fmla="val 18000"/>
            </a:avLst>
          </a:prstGeom>
          <a:solidFill>
            <a:srgbClr val="E3F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5029200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6116"/>
                </a:solidFill>
                <a:latin typeface="Calibri"/>
              </a:rPr>
              <a:t>Works today</a:t>
            </a:r>
          </a:p>
        </p:txBody>
      </p:sp>
      <p:pic>
        <p:nvPicPr>
          <p:cNvPr id="17414" name="Picture 17413" descr="phone-amber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91640"/>
            <a:ext cx="2148840" cy="2889129"/>
          </a:xfrm>
          <a:prstGeom prst="rect">
            <a:avLst/>
          </a:prstGeom>
          <a:ln w="12700">
            <a:solidFill>
              <a:srgbClr val="C9D2DF"/>
            </a:solidFill>
          </a:ln>
        </p:spPr>
      </p:pic>
      <p:sp>
        <p:nvSpPr>
          <p:cNvPr id="17415" name="Rounded Rectangle 17414"/>
          <p:cNvSpPr/>
          <p:nvPr/>
        </p:nvSpPr>
        <p:spPr>
          <a:xfrm>
            <a:off x="2743200" y="1691640"/>
            <a:ext cx="278892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500" b="1">
                <a:solidFill>
                  <a:srgbClr val="1E6B34"/>
                </a:solidFill>
                <a:latin typeface="Calibri"/>
              </a:rPr>
              <a:t>✓ Live now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anki1kr.me/NoticeDecoder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743200" y="2715768"/>
            <a:ext cx="278892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500" b="1">
                <a:solidFill>
                  <a:srgbClr val="1E6B34"/>
                </a:solidFill>
                <a:latin typeface="Calibri"/>
              </a:rPr>
              <a:t>✓ Tested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53 tests, 73 browser checks, 6 real notices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743200" y="3739896"/>
            <a:ext cx="278892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500" b="1">
                <a:solidFill>
                  <a:srgbClr val="1E6B34"/>
                </a:solidFill>
                <a:latin typeface="Calibri"/>
              </a:rPr>
              <a:t>✓ ₹0 per notice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runs on the phone; the class feed fits a free tier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743200" y="4846320"/>
            <a:ext cx="278892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Left: a doubtful date is outlined in amber; export waits until it is fixed or marked "Looks right".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806440" y="1188720"/>
            <a:ext cx="5971032" cy="384048"/>
          </a:xfrm>
          <a:prstGeom prst="roundRect">
            <a:avLst>
              <a:gd name="adj" fmla="val 18000"/>
            </a:avLst>
          </a:prstGeom>
          <a:solidFill>
            <a:srgbClr val="E3F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5861303" y="1188720"/>
            <a:ext cx="5879592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6116"/>
                </a:solidFill>
                <a:latin typeface="Calibri"/>
              </a:rPr>
              <a:t>Challenges and how we handle them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5806440" y="1737360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Long notice cut off in a notification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8430768" y="2185415"/>
            <a:ext cx="36576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8823960" y="1737360"/>
            <a:ext cx="295351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Share or paste reads the full text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5806440" y="2816352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Google refreshes a subscribed feed every 12 to 24 h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8430768" y="3264408"/>
            <a:ext cx="36576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8823960" y="2816352"/>
            <a:ext cx="295351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One-tap add writes events at once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806440" y="3895344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Reading WhatsApp needs Android (iOS blocks it)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8430768" y="4343400"/>
            <a:ext cx="36576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ounded Rectangle 17428"/>
          <p:cNvSpPr/>
          <p:nvPr/>
        </p:nvSpPr>
        <p:spPr>
          <a:xfrm>
            <a:off x="8823960" y="3895344"/>
            <a:ext cx="295351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On iPhone: paste, or the Gmail script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5806440" y="4974336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Spelling mistakes ("tset", "Nvo")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8430768" y="5422392"/>
            <a:ext cx="36576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8823960" y="4974336"/>
            <a:ext cx="295351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Date stays empty; export stays locked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689523" y="658368"/>
            <a:ext cx="5868072" cy="164592"/>
          </a:xfrm>
          <a:prstGeom prst="roundRect">
            <a:avLst>
              <a:gd name="adj" fmla="val 50000"/>
            </a:avLst>
          </a:prstGeom>
          <a:solidFill>
            <a:srgbClr val="FFD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algn="ctr"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WHO PAYS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5577840" cy="384048"/>
          </a:xfrm>
          <a:prstGeom prst="roundRect">
            <a:avLst>
              <a:gd name="adj" fmla="val 18000"/>
            </a:avLst>
          </a:prstGeom>
          <a:solidFill>
            <a:srgbClr val="FF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5486400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864500"/>
                </a:solidFill>
                <a:latin typeface="Calibri"/>
              </a:rPr>
              <a:t>Who gains what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11480" y="1691640"/>
          <a:ext cx="5577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With Notice Decoder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Reads a paragraph, misses a date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Events in the calendar; checks only amber fields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Class rep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Forwards every notice by hand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Publishes once; the class subscribes once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Department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Clashes found too late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A clash report across the term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415" name="TextBox 17414"/>
          <p:cNvSpPr txBox="1"/>
          <p:nvPr/>
        </p:nvSpPr>
        <p:spPr>
          <a:xfrm>
            <a:off x="411480" y="4206240"/>
            <a:ext cx="5577840" cy="2011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For scale:</a:t>
            </a:r>
            <a:r>
              <a:rPr sz="1400" b="0">
                <a:solidFill>
                  <a:srgbClr val="262A33"/>
                </a:solidFill>
                <a:latin typeface="Calibri"/>
              </a:rPr>
              <a:t> Fedena, a full college ERP, lists $999 to $1,699 a year for a whole college, so one feature for one department must cost far less.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Honest status:</a:t>
            </a:r>
            <a:r>
              <a:rPr sz="1400" b="0">
                <a:solidFill>
                  <a:srgbClr val="262A33"/>
                </a:solidFill>
                <a:latin typeface="Calibri"/>
              </a:rPr>
              <a:t> no college has paid yet.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263640" y="1188720"/>
            <a:ext cx="5513832" cy="384048"/>
          </a:xfrm>
          <a:prstGeom prst="roundRect">
            <a:avLst>
              <a:gd name="adj" fmla="val 18000"/>
            </a:avLst>
          </a:prstGeom>
          <a:solidFill>
            <a:srgbClr val="FF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318503" y="1188720"/>
            <a:ext cx="5422392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864500"/>
                </a:solidFill>
                <a:latin typeface="Calibri"/>
              </a:rPr>
              <a:t>Business model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6263640" y="1691640"/>
            <a:ext cx="5513832" cy="868680"/>
          </a:xfrm>
          <a:prstGeom prst="rect">
            <a:avLst/>
          </a:prstGeom>
          <a:solidFill>
            <a:srgbClr val="FFD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128016" rtlCol="0" anchor="ctr"/>
          <a:lstStyle/>
          <a:p>
            <a:pPr algn="ctr"/>
            <a:r>
              <a:rPr sz="2400" b="1">
                <a:solidFill>
                  <a:srgbClr val="262A33"/>
                </a:solidFill>
                <a:latin typeface="Calibri"/>
              </a:rPr>
              <a:t>₹2,999 per department per year</a:t>
            </a:r>
          </a:p>
          <a:p>
            <a:r>
              <a:rPr sz="1400" b="0">
                <a:solidFill>
                  <a:srgbClr val="262A33"/>
                </a:solidFill>
                <a:latin typeface="Calibri"/>
              </a:rPr>
              <a:t>proposed price; the first term is free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263640" y="2697480"/>
            <a:ext cx="5513832" cy="3566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Free for every student:</a:t>
            </a:r>
            <a:r>
              <a:rPr sz="1400" b="0">
                <a:solidFill>
                  <a:srgbClr val="262A33"/>
                </a:solidFill>
                <a:latin typeface="Calibri"/>
              </a:rPr>
              <a:t> paste, share or auto-read; clashes; Google Calendar, .ics, class link. Costs us about ₹0.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Department plan:</a:t>
            </a:r>
            <a:r>
              <a:rPr sz="1400" b="0">
                <a:solidFill>
                  <a:srgbClr val="262A33"/>
                </a:solidFill>
                <a:latin typeface="Calibri"/>
              </a:rPr>
              <a:t> the class rep or a teacher publishes; the HOD signs off. One free-tier Worker and storage.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Why pay when WhatsApp is free?</a:t>
            </a:r>
            <a:r>
              <a:rPr sz="1400" b="0">
                <a:solidFill>
                  <a:srgbClr val="262A33"/>
                </a:solidFill>
                <a:latin typeface="Calibri"/>
              </a:rPr>
              <a:t> Nobody's calendar moves when a date changes; the plan </a:t>
            </a:r>
            <a:r>
              <a:rPr sz="1400" b="1">
                <a:solidFill>
                  <a:srgbClr val="262A33"/>
                </a:solidFill>
                <a:highlight>
                  <a:srgbClr val="FFD59C"/>
                </a:highlight>
                <a:latin typeface="Calibri"/>
              </a:rPr>
              <a:t>moves it for everyone</a:t>
            </a:r>
            <a:r>
              <a:rPr sz="1400" b="0">
                <a:solidFill>
                  <a:srgbClr val="262A33"/>
                </a:solidFill>
                <a:latin typeface="Calibri"/>
              </a:rPr>
              <a:t> and catches term-wide clashes.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Pilot:</a:t>
            </a:r>
            <a:r>
              <a:rPr sz="1400" b="0">
                <a:solidFill>
                  <a:srgbClr val="262A33"/>
                </a:solidFill>
                <a:latin typeface="Calibri"/>
              </a:rPr>
              <a:t> one department, one term; it works if the HOD pays for the next term.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046166" y="658368"/>
            <a:ext cx="7154787" cy="164592"/>
          </a:xfrm>
          <a:prstGeom prst="roundRect">
            <a:avLst>
              <a:gd name="adj" fmla="val 50000"/>
            </a:avLst>
          </a:prstGeom>
          <a:solidFill>
            <a:srgbClr val="DCC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algn="ctr"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7498079" cy="384048"/>
          </a:xfrm>
          <a:prstGeom prst="roundRect">
            <a:avLst>
              <a:gd name="adj" fmla="val 18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7406640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B3699"/>
                </a:solidFill>
                <a:latin typeface="Calibri"/>
              </a:rPr>
              <a:t>Other notice tools: we read their code (Oct 2026)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11480" y="169164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file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Clash check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7 public notice tools on GitHub, most send text to an AI model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0 of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0 of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edt-tamis: university timetable files, not notices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Notice Decoder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Yes, with the reason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415" name="Rounded Rectangle 17414"/>
          <p:cNvSpPr/>
          <p:nvPr/>
        </p:nvSpPr>
        <p:spPr>
          <a:xfrm>
            <a:off x="411480" y="3703320"/>
            <a:ext cx="7498079" cy="384048"/>
          </a:xfrm>
          <a:prstGeom prst="roundRect">
            <a:avLst>
              <a:gd name="adj" fmla="val 18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66344" y="3703320"/>
            <a:ext cx="7406640" cy="384048"/>
          </a:xfrm>
          <a:prstGeom prst="rect">
            <a:avLst/>
          </a:prstGeom>
          <a:noFill/>
        </p:spPr>
        <p:txBody>
          <a:bodyPr wrap="square" tIns="18288" rIns="45720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B3699"/>
                </a:solidFill>
                <a:latin typeface="Calibri"/>
              </a:rPr>
              <a:t>Why the problem is real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11480" y="4160520"/>
            <a:ext cx="7498079" cy="2103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APSIT Mumbai</a:t>
            </a:r>
            <a:r>
              <a:rPr sz="1300" b="0">
                <a:solidFill>
                  <a:srgbClr val="262A33"/>
                </a:solidFill>
                <a:latin typeface="Calibri"/>
              </a:rPr>
              <a:t> moved notices out of WhatsApp groups: "many students miss important notices" (e-notice board post, 23 Sep 2025).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Jamia Millia Islamia</a:t>
            </a:r>
            <a:r>
              <a:rPr sz="1300" b="0">
                <a:solidFill>
                  <a:srgbClr val="262A33"/>
                </a:solidFill>
                <a:latin typeface="Calibri"/>
              </a:rPr>
              <a:t> keeps academic notices in official class groups run by the class representative (Careers360, 9 Sep 2026).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St Agnes College, Mangaluru</a:t>
            </a:r>
            <a:r>
              <a:rPr sz="1300" b="0">
                <a:solidFill>
                  <a:srgbClr val="262A33"/>
                </a:solidFill>
                <a:latin typeface="Calibri"/>
              </a:rPr>
              <a:t> set semester exams in the Dasara holidays; students protested (PTI via Careers360, 12 Oct 2026).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Price anchor:</a:t>
            </a:r>
            <a:r>
              <a:rPr sz="1300" b="0">
                <a:solidFill>
                  <a:srgbClr val="262A33"/>
                </a:solidFill>
                <a:latin typeface="Calibri"/>
              </a:rPr>
              <a:t> fedena.com/pricing-and-plans.  </a:t>
            </a:r>
            <a:r>
              <a:rPr sz="1300" b="1">
                <a:solidFill>
                  <a:srgbClr val="1F497D"/>
                </a:solidFill>
                <a:latin typeface="Calibri"/>
              </a:rPr>
              <a:t>Problem statement:</a:t>
            </a:r>
            <a:r>
              <a:rPr sz="1300" b="0">
                <a:solidFill>
                  <a:srgbClr val="262A33"/>
                </a:solidFill>
                <a:latin typeface="Calibri"/>
              </a:rPr>
              <a:t> SETU 2026 Forge Realm PS-02.</a:t>
            </a:r>
          </a:p>
        </p:txBody>
      </p:sp>
      <p:pic>
        <p:nvPicPr>
          <p:cNvPr id="17418" name="Picture 17417" descr="qr-live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1463040"/>
            <a:ext cx="2194560" cy="219456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419" name="TextBox 17418"/>
          <p:cNvSpPr txBox="1"/>
          <p:nvPr/>
        </p:nvSpPr>
        <p:spPr>
          <a:xfrm>
            <a:off x="8366760" y="368503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3"/>
              </a:rPr>
              <a:t>Live demo</a:t>
            </a:r>
            <a:r>
              <a:t> 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275320" y="4114800"/>
            <a:ext cx="31089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anki1kr.me/NoticeDecoder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Works in any browser; nothing to install.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7495</TotalTime>
  <Words>1013</Words>
  <Application>Microsoft Office PowerPoint</Application>
  <PresentationFormat>Widescreen</PresentationFormat>
  <Paragraphs>145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SETU 2026</vt:lpstr>
      <vt:lpstr>NOTICE DECODER</vt:lpstr>
      <vt:lpstr>TECHNICAL APPROACH</vt:lpstr>
      <vt:lpstr>FEASIBILITY AND VIABILITY</vt:lpstr>
      <vt:lpstr>IMPACT AND WHO PAYS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ANKIT Kumar</cp:lastModifiedBy>
  <cp:revision>148</cp:revision>
  <dcterms:created xsi:type="dcterms:W3CDTF">2013-12-12T18:46:50Z</dcterms:created>
  <dcterms:modified xsi:type="dcterms:W3CDTF">2026-10-15T13:01:31Z</dcterms:modified>
  <cp:category/>
</cp:coreProperties>
</file>